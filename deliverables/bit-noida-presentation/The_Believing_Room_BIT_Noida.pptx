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IN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Walk on while the opening plays; it runs by itself, about six seconds. Let the logo land before you speak.</a:t>
            </a:r>
          </a:p>
          <a:p>
            <a:r>
              <a:rPr lang="en-IN" dirty="0"/>
              <a:t>Open warmly: "Good morning. We're the founders of The Believing Room, and this is our college."</a:t>
            </a:r>
          </a:p>
          <a:p>
            <a:r>
              <a:rPr lang="en-IN" dirty="0"/>
              <a:t>Read the three lines slowly: Your Talent. Your Stage. Your Opportunity.</a:t>
            </a:r>
          </a:p>
          <a:p>
            <a:r>
              <a:rPr lang="en-IN" dirty="0"/>
              <a:t>Tell them what the next few minutes are: what we're building, why it exists, and how you can be part of it. Keep it under a minute.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 with a question: how many of you have sent a résumé and heard nothing back?</a:t>
            </a:r>
          </a:p>
          <a:p>
            <a:r>
              <a:rPr lang="en-IN" dirty="0"/>
              <a:t>Click once. The gold strike crosses the résumé and three things appear that no résumé holds.</a:t>
            </a:r>
          </a:p>
          <a:p>
            <a:r>
              <a:rPr lang="en-IN" dirty="0"/>
              <a:t>Say them, then personalise: the app you built at 2 a.m., how you explain things to friends, the idea you keep coming back to.</a:t>
            </a:r>
          </a:p>
          <a:p>
            <a:r>
              <a:rPr lang="en-IN" dirty="0"/>
              <a:t>Land the point: a page can't hold all of that. We think the people who hire should get to meet it.</a:t>
            </a:r>
          </a:p>
          <a:p>
            <a:r>
              <a:rPr lang="en-IN" dirty="0"/>
              <a:t>Do not criticise recruiters or claim anything about how hiring works everywhere. This is about how it feels from a student's side.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doors open on the stage. Pause on the headline: what if your next opportunity began with your story?</a:t>
            </a:r>
          </a:p>
          <a:p>
            <a:r>
              <a:rPr lang="en-IN" dirty="0"/>
              <a:t>Click once; the scene builds. The candidate is in the light, the panel sits in front, the audience watches.</a:t>
            </a:r>
          </a:p>
          <a:p>
            <a:r>
              <a:rPr lang="en-IN" dirty="0"/>
              <a:t>Explain it in plain words: a live pitch show. You present what you can do, in your own words, and recruiters on the panel question you. It is filmed.</a:t>
            </a:r>
          </a:p>
          <a:p>
            <a:r>
              <a:rPr lang="en-IN" dirty="0"/>
              <a:t>If someone asks, mention that the format is inspired by the energy of live entrepreneurial pitching, adapted for students and recruitment.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This is the moment. Before you click, say: here is what we've been building. Then click once and stay quiet for the reveal; it takes about five seconds.</a:t>
            </a:r>
          </a:p>
          <a:p>
            <a:r>
              <a:rPr lang="en-IN" dirty="0"/>
              <a:t>Sixteen recruiters secured. Say the number, then the line: real recruiters, real conversations, real possibilities.</a:t>
            </a:r>
          </a:p>
          <a:p>
            <a:r>
              <a:rPr lang="en-IN" dirty="0"/>
              <a:t>Be precise about what it means: sixteen recruiters have come on board for the show. Each recruiter makes their own decisions.</a:t>
            </a:r>
          </a:p>
          <a:p>
            <a:r>
              <a:rPr lang="en-IN" dirty="0"/>
              <a:t>Do not say sixteen companies, sixteen internships or sixteen jobs, and do not promise offers. We have not named the recruiters on this slide because we only name them once confirmed.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Click once and the four paths rise in turn.</a:t>
            </a:r>
          </a:p>
          <a:p>
            <a:r>
              <a:rPr lang="en-IN" dirty="0"/>
              <a:t>Technology: show them how you build. Finance: make the numbers speak. Sales and marketing: sell the idea, starting with yourself. Animation and multimedia: let the work move them.</a:t>
            </a:r>
          </a:p>
          <a:p>
            <a:r>
              <a:rPr lang="en-IN" dirty="0"/>
              <a:t>Key message: talent comes in more than one shape. You do not need a perfect transcript; you need something real to show.</a:t>
            </a:r>
          </a:p>
          <a:p>
            <a:r>
              <a:rPr lang="en-IN" dirty="0"/>
              <a:t>Invite them to find themselves in one of the four. Do not suggest that every path has openings, or promise any particular number of roles.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Two clicks. The first draws the journey up to the pitch; the second finishes it.</a:t>
            </a:r>
          </a:p>
          <a:p>
            <a:r>
              <a:rPr lang="en-IN" dirty="0"/>
              <a:t>Apply: tell us what you can do. Shortlist: our team reviews applications. Pitch: you present live and take the panel's questions.</a:t>
            </a:r>
          </a:p>
          <a:p>
            <a:r>
              <a:rPr lang="en-IN" dirty="0"/>
              <a:t>Second click: recruiters evaluate, and each recruiter decides for themselves. Potential opportunity: possibly an internship or an early-career role.</a:t>
            </a:r>
          </a:p>
          <a:p>
            <a:r>
              <a:rPr lang="en-IN" dirty="0"/>
              <a:t>Read the line at the bottom aloud. Being shortlisted does not guarantee a slot, and no outcome is guaranteed. Honesty here builds trust.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Click once; the five lines rise one after another.</a:t>
            </a:r>
          </a:p>
          <a:p>
            <a:r>
              <a:rPr lang="en-IN" dirty="0"/>
              <a:t>Frame it bigger than an internship. A stage to show what you can do. Recruiters who see it first-hand. Practice presenting ideas under real questions. Feedback and connections worth keeping. And a possible path to an internship or early-career role.</a:t>
            </a:r>
          </a:p>
          <a:p>
            <a:r>
              <a:rPr lang="en-IN" dirty="0"/>
              <a:t>The line to remember: the point is to be seen, not just screened.</a:t>
            </a:r>
          </a:p>
          <a:p>
            <a:r>
              <a:rPr lang="en-IN" dirty="0"/>
              <a:t>These are things we are building toward; experiences vary by candidate and none is guaranteed. Say so in your own words.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Slow down. The first line appears by itself; click for the second.</a:t>
            </a:r>
          </a:p>
          <a:p>
            <a:r>
              <a:rPr lang="en-IN" dirty="0"/>
              <a:t>Tell the real story in two or three sentences: you sat in these seats, here is what you wished existed, and this is what you are building.</a:t>
            </a:r>
          </a:p>
          <a:p>
            <a:r>
              <a:rPr lang="en-IN" dirty="0"/>
              <a:t>Keep it warm and short: it started with students like us; now we're building a stage for students like you.</a:t>
            </a:r>
          </a:p>
          <a:p>
            <a:r>
              <a:rPr lang="en-IN" dirty="0"/>
              <a:t>We are here as alumni sharing something we are building. Do not describe BIT Noida as a partner, sponsor or endorser.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slide builds itself and then holds. Leave it up for the rest of the session.</a:t>
            </a:r>
          </a:p>
          <a:p>
            <a:r>
              <a:rPr lang="en-IN" dirty="0"/>
              <a:t>Say it: your story deserves an audience. Then the one ask: scan the code and apply to pitch.</a:t>
            </a:r>
          </a:p>
          <a:p>
            <a:r>
              <a:rPr lang="en-IN" dirty="0"/>
              <a:t>The code and the button both open the candidate application page. Give people a few quiet seconds to scan; mention the address on screen for anyone who prefers typing.</a:t>
            </a:r>
          </a:p>
          <a:p>
            <a:r>
              <a:rPr lang="en-IN" dirty="0"/>
              <a:t>Close with thanks and take questions with this frame still projected.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lieving Room Dark"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lieving Room Ivory">
    <p:bg>
      <p:bgPr>
        <a:solidFill>
          <a:srgbClr val="F6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15600" cy="146304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r>
              <a:rPr lang="en-IN"/>
              <a:t>Click to edit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5000"/>
        </a:lnSpc>
        <a:spcBef>
          <a:spcPts val="0"/>
        </a:spcBef>
        <a:buNone/>
        <a:defRPr sz="4400" b="1" kern="1200">
          <a:solidFill>
            <a:srgbClr val="F6F1E9"/>
          </a:solidFill>
          <a:latin typeface="Georgia"/>
          <a:ea typeface="Georgia"/>
          <a:cs typeface="Georgia"/>
        </a:defRPr>
      </a:lvl1pPr>
    </p:titleStyle>
    <p:bodyStyle>
      <a:lvl1pPr marL="0" algn="l">
        <a:buNone/>
        <a:defRPr sz="2000" kern="1200">
          <a:solidFill>
            <a:srgbClr val="F6F1E9"/>
          </a:solidFill>
          <a:latin typeface="Calibri"/>
          <a:ea typeface="Calibri"/>
          <a:cs typeface="Calibri"/>
        </a:defRPr>
      </a:lvl1pPr>
    </p:bodyStyle>
    <p:otherStyle>
      <a:lvl1pPr marL="0" algn="l">
        <a:buNone/>
        <a:defRPr sz="2000" kern="1200">
          <a:solidFill>
            <a:srgbClr val="F6F1E9"/>
          </a:solidFill>
          <a:latin typeface="Calibri"/>
          <a:ea typeface="Calibri"/>
          <a:cs typeface="Calibr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-banner.jp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-emblem.jp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-emblem.jpg"/><Relationship Id="rId3" Type="http://schemas.openxmlformats.org/officeDocument/2006/relationships/hyperlink" Target="https://www.thebelievingroom.com/register/candidate" TargetMode="Externa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-758952" y="-2788920"/>
            <a:ext cx="13716000" cy="7772400"/>
          </a:xfrm>
          <a:prstGeom prst="ellipse">
            <a:avLst/>
          </a:prstGeom>
          <a:gradFill rotWithShape="1">
            <a:gsLst>
              <a:gs pos="0">
                <a:srgbClr val="CBAE76">
                  <a:alpha val="40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-2743200" y="2560320"/>
            <a:ext cx="8229600" cy="5486400"/>
          </a:xfrm>
          <a:prstGeom prst="ellipse">
            <a:avLst/>
          </a:prstGeom>
          <a:gradFill rotWithShape="1">
            <a:gsLst>
              <a:gs pos="0">
                <a:srgbClr val="B7A9C4">
                  <a:alpha val="20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cone"/>
          <p:cNvSpPr/>
          <p:nvPr/>
        </p:nvSpPr>
        <p:spPr>
          <a:xfrm>
            <a:off x="1554480" y="0"/>
            <a:ext cx="9052560" cy="51206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40" y="0"/>
                </a:moveTo>
                <a:lnTo>
                  <a:pt x="56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F0D49C">
                  <a:alpha val="20000"/>
                </a:srgbClr>
              </a:gs>
              <a:gs pos="100000">
                <a:srgbClr val="CBAE7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5" name="!!rib3"/>
          <p:cNvSpPr/>
          <p:nvPr/>
        </p:nvSpPr>
        <p:spPr>
          <a:xfrm>
            <a:off x="-914400" y="5852160"/>
            <a:ext cx="14081760" cy="2286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2A1C33"/>
              </a:gs>
              <a:gs pos="100000">
                <a:srgbClr val="160F1C"/>
              </a:gs>
            </a:gsLst>
            <a:lin ang="5400000" scaled="0"/>
          </a:gradFill>
          <a:ln>
            <a:noFill/>
          </a:ln>
        </p:spPr>
      </p:sp>
      <p:sp>
        <p:nvSpPr>
          <p:cNvPr id="6" name="!!rib1"/>
          <p:cNvSpPr/>
          <p:nvPr/>
        </p:nvSpPr>
        <p:spPr>
          <a:xfrm>
            <a:off x="-914400" y="4754880"/>
            <a:ext cx="14081760" cy="3108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55000"/>
                </a:srgbClr>
              </a:gs>
              <a:gs pos="100000">
                <a:srgbClr val="3F2C4D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!!rib2"/>
          <p:cNvSpPr/>
          <p:nvPr/>
        </p:nvSpPr>
        <p:spPr>
          <a:xfrm flipH="1">
            <a:off x="-914400" y="5212080"/>
            <a:ext cx="14081760" cy="28346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85000"/>
                </a:srgbClr>
              </a:gs>
              <a:gs pos="50000">
                <a:srgbClr val="CBAE76">
                  <a:alpha val="85000"/>
                </a:srgbClr>
              </a:gs>
              <a:gs pos="100000">
                <a:srgbClr val="8A6D3B">
                  <a:alpha val="75000"/>
                </a:srgbClr>
              </a:gs>
            </a:gsLst>
            <a:lin ang="0" scaled="0"/>
          </a:gradFill>
          <a:ln>
            <a:noFill/>
          </a:ln>
        </p:spPr>
      </p:sp>
      <p:pic>
        <p:nvPicPr>
          <p:cNvPr id="8" name="Logo banner" descr="The Believing Room logo: a golden B with a microphone, a tie and a victory-sign hand, beside the wordmark, on a purple stage under spotligh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11480"/>
            <a:ext cx="10789920" cy="3596335"/>
          </a:xfrm>
          <a:prstGeom prst="rect">
            <a:avLst/>
          </a:prstGeom>
          <a:effectLst>
            <a:softEdge rad="502920"/>
          </a:effectLst>
        </p:spPr>
      </p:pic>
      <p:sp>
        <p:nvSpPr>
          <p:cNvPr id="9" name="Tagline: Your Talent."/>
          <p:cNvSpPr txBox="1"/>
          <p:nvPr/>
        </p:nvSpPr>
        <p:spPr>
          <a:xfrm>
            <a:off x="886968" y="41148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0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Your Talent.</a:t>
            </a:r>
            <a:endParaRPr lang="en-IN" sz="3000" b="0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Tagline: Your Stage."/>
          <p:cNvSpPr txBox="1"/>
          <p:nvPr/>
        </p:nvSpPr>
        <p:spPr>
          <a:xfrm>
            <a:off x="4453128" y="41148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0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Your Stage.</a:t>
            </a:r>
            <a:endParaRPr lang="en-IN" sz="3000" b="0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" name="Tagline: Your Opportunity."/>
          <p:cNvSpPr txBox="1"/>
          <p:nvPr/>
        </p:nvSpPr>
        <p:spPr>
          <a:xfrm>
            <a:off x="7927848" y="41148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0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Your Opportunity.</a:t>
            </a:r>
            <a:endParaRPr lang="en-IN" sz="3000" b="0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Divider 1"/>
          <p:cNvSpPr/>
          <p:nvPr/>
        </p:nvSpPr>
        <p:spPr>
          <a:xfrm>
            <a:off x="3904488" y="4206240"/>
            <a:ext cx="12802" cy="420624"/>
          </a:xfrm>
          <a:prstGeom prst="rect">
            <a:avLst/>
          </a:prstGeom>
          <a:solidFill>
            <a:srgbClr val="CBAE76">
              <a:alpha val="60000"/>
            </a:srgbClr>
          </a:solidFill>
          <a:ln>
            <a:noFill/>
          </a:ln>
        </p:spPr>
      </p:sp>
      <p:sp>
        <p:nvSpPr>
          <p:cNvPr id="13" name="Divider 2"/>
          <p:cNvSpPr/>
          <p:nvPr/>
        </p:nvSpPr>
        <p:spPr>
          <a:xfrm>
            <a:off x="7379208" y="4206240"/>
            <a:ext cx="12802" cy="420624"/>
          </a:xfrm>
          <a:prstGeom prst="rect">
            <a:avLst/>
          </a:prstGeom>
          <a:solidFill>
            <a:srgbClr val="CBAE76">
              <a:alpha val="60000"/>
            </a:srgbClr>
          </a:solidFill>
          <a:ln>
            <a:noFill/>
          </a:ln>
        </p:spPr>
      </p:sp>
      <p:sp>
        <p:nvSpPr>
          <p:cNvPr id="14" name="Occasion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i="0" dirty="0" spc="5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A SPEAKING SESSION AT BIT NOIDA CAMPUS</a:t>
            </a:r>
            <a:endParaRPr lang="en-IN" sz="1500" b="1" i="0" dirty="0" spc="5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1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2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3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F6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6126480" y="-822960"/>
            <a:ext cx="8229600" cy="5669280"/>
          </a:xfrm>
          <a:prstGeom prst="ellipse">
            <a:avLst/>
          </a:prstGeom>
          <a:gradFill rotWithShape="1">
            <a:gsLst>
              <a:gs pos="0">
                <a:srgbClr val="CBAE76">
                  <a:alpha val="20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-1417320" y="2743200"/>
            <a:ext cx="6858000" cy="4754880"/>
          </a:xfrm>
          <a:prstGeom prst="ellipse">
            <a:avLst/>
          </a:prstGeom>
          <a:gradFill rotWithShape="1">
            <a:gsLst>
              <a:gs pos="0">
                <a:srgbClr val="B7A9C4">
                  <a:alpha val="22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ib3"/>
          <p:cNvSpPr/>
          <p:nvPr/>
        </p:nvSpPr>
        <p:spPr>
          <a:xfrm flipH="1">
            <a:off x="-1371600" y="6400800"/>
            <a:ext cx="14996160" cy="20116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EDE6DA"/>
              </a:gs>
              <a:gs pos="100000">
                <a:srgbClr val="E3DACB"/>
              </a:gs>
            </a:gsLst>
            <a:lin ang="5400000" scaled="0"/>
          </a:gradFill>
          <a:ln>
            <a:noFill/>
          </a:ln>
        </p:spPr>
      </p:sp>
      <p:sp>
        <p:nvSpPr>
          <p:cNvPr id="5" name="!!rib1"/>
          <p:cNvSpPr/>
          <p:nvPr/>
        </p:nvSpPr>
        <p:spPr>
          <a:xfrm flipH="1">
            <a:off x="-1371600" y="5212080"/>
            <a:ext cx="14996160" cy="3108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D9CFE3">
                  <a:alpha val="75000"/>
                </a:srgbClr>
              </a:gs>
              <a:gs pos="100000">
                <a:srgbClr val="B7A9C4">
                  <a:alpha val="6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" name="!!rib2"/>
          <p:cNvSpPr/>
          <p:nvPr/>
        </p:nvSpPr>
        <p:spPr>
          <a:xfrm>
            <a:off x="-1371600" y="5577840"/>
            <a:ext cx="14996160" cy="2743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6E9CC">
                  <a:alpha val="90000"/>
                </a:srgbClr>
              </a:gs>
              <a:gs pos="50000">
                <a:srgbClr val="E3CFA8">
                  <a:alpha val="90000"/>
                </a:srgbClr>
              </a:gs>
              <a:gs pos="100000">
                <a:srgbClr val="CBAE76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Resume sheet (back)"/>
          <p:cNvSpPr/>
          <p:nvPr/>
        </p:nvSpPr>
        <p:spPr>
          <a:xfrm rot="270000">
            <a:off x="1024128" y="914400"/>
            <a:ext cx="3566160" cy="4754880"/>
          </a:xfrm>
          <a:prstGeom prst="rect">
            <a:avLst/>
          </a:prstGeom>
          <a:solidFill>
            <a:srgbClr val="E6DECF"/>
          </a:solidFill>
          <a:ln>
            <a:noFill/>
          </a:ln>
          <a:effectLst>
            <a:outerShdw blurRad="228600" dist="63500" dir="5400000" algn="ctr" rotWithShape="0">
              <a:srgbClr val="1C1820">
                <a:alpha val="18000"/>
              </a:srgbClr>
            </a:outerShdw>
          </a:effectLst>
        </p:spPr>
      </p:sp>
      <p:sp>
        <p:nvSpPr>
          <p:cNvPr id="8" name="Resume sheet"/>
          <p:cNvSpPr/>
          <p:nvPr/>
        </p:nvSpPr>
        <p:spPr>
          <a:xfrm>
            <a:off x="868680" y="960120"/>
            <a:ext cx="35661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04800" dist="101600" dir="5400000" algn="ctr" rotWithShape="0">
              <a:srgbClr val="1C1820">
                <a:alpha val="22000"/>
              </a:srgbClr>
            </a:outerShdw>
          </a:effectLst>
        </p:spPr>
      </p:sp>
      <p:sp>
        <p:nvSpPr>
          <p:cNvPr id="9" name="Resume heading"/>
          <p:cNvSpPr txBox="1"/>
          <p:nvPr/>
        </p:nvSpPr>
        <p:spPr>
          <a:xfrm>
            <a:off x="1188720" y="1280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 spc="600">
                <a:solidFill>
                  <a:srgbClr val="8E877B"/>
                </a:solidFill>
                <a:latin typeface="Calibri"/>
                <a:ea typeface="Calibri"/>
                <a:cs typeface="Calibri"/>
              </a:rPr>
              <a:t>RÉSUMÉ</a:t>
            </a:r>
            <a:endParaRPr lang="en-IN" sz="2000" b="1" i="0" dirty="0" spc="600">
              <a:solidFill>
                <a:srgbClr val="8E877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sume name bar"/>
          <p:cNvSpPr/>
          <p:nvPr/>
        </p:nvSpPr>
        <p:spPr>
          <a:xfrm>
            <a:off x="1188720" y="1828800"/>
            <a:ext cx="2103120" cy="182880"/>
          </a:xfrm>
          <a:prstGeom prst="rect">
            <a:avLst/>
          </a:prstGeom>
          <a:solidFill>
            <a:srgbClr val="A59E92"/>
          </a:solidFill>
          <a:ln>
            <a:noFill/>
          </a:ln>
        </p:spPr>
      </p:sp>
      <p:sp>
        <p:nvSpPr>
          <p:cNvPr id="11" name="Resume line"/>
          <p:cNvSpPr/>
          <p:nvPr/>
        </p:nvSpPr>
        <p:spPr>
          <a:xfrm>
            <a:off x="1188720" y="2286000"/>
            <a:ext cx="822960" cy="109728"/>
          </a:xfrm>
          <a:prstGeom prst="rect">
            <a:avLst/>
          </a:prstGeom>
          <a:solidFill>
            <a:srgbClr val="B5AD9F"/>
          </a:solidFill>
          <a:ln>
            <a:noFill/>
          </a:ln>
        </p:spPr>
      </p:sp>
      <p:sp>
        <p:nvSpPr>
          <p:cNvPr id="12" name="Resume line"/>
          <p:cNvSpPr/>
          <p:nvPr/>
        </p:nvSpPr>
        <p:spPr>
          <a:xfrm>
            <a:off x="1188720" y="2505456"/>
            <a:ext cx="2926080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13" name="Resume line"/>
          <p:cNvSpPr/>
          <p:nvPr/>
        </p:nvSpPr>
        <p:spPr>
          <a:xfrm>
            <a:off x="1188720" y="2688336"/>
            <a:ext cx="2340864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14" name="Resume line"/>
          <p:cNvSpPr/>
          <p:nvPr/>
        </p:nvSpPr>
        <p:spPr>
          <a:xfrm>
            <a:off x="1188720" y="3108960"/>
            <a:ext cx="822960" cy="109728"/>
          </a:xfrm>
          <a:prstGeom prst="rect">
            <a:avLst/>
          </a:prstGeom>
          <a:solidFill>
            <a:srgbClr val="B5AD9F"/>
          </a:solidFill>
          <a:ln>
            <a:noFill/>
          </a:ln>
        </p:spPr>
      </p:sp>
      <p:sp>
        <p:nvSpPr>
          <p:cNvPr id="15" name="Resume line"/>
          <p:cNvSpPr/>
          <p:nvPr/>
        </p:nvSpPr>
        <p:spPr>
          <a:xfrm>
            <a:off x="1188720" y="3328416"/>
            <a:ext cx="2743200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16" name="Resume line"/>
          <p:cNvSpPr/>
          <p:nvPr/>
        </p:nvSpPr>
        <p:spPr>
          <a:xfrm>
            <a:off x="1188720" y="3511296"/>
            <a:ext cx="2194560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17" name="Resume line"/>
          <p:cNvSpPr/>
          <p:nvPr/>
        </p:nvSpPr>
        <p:spPr>
          <a:xfrm>
            <a:off x="1188720" y="3749040"/>
            <a:ext cx="822960" cy="109728"/>
          </a:xfrm>
          <a:prstGeom prst="rect">
            <a:avLst/>
          </a:prstGeom>
          <a:solidFill>
            <a:srgbClr val="B5AD9F"/>
          </a:solidFill>
          <a:ln>
            <a:noFill/>
          </a:ln>
        </p:spPr>
      </p:sp>
      <p:sp>
        <p:nvSpPr>
          <p:cNvPr id="18" name="Resume line"/>
          <p:cNvSpPr/>
          <p:nvPr/>
        </p:nvSpPr>
        <p:spPr>
          <a:xfrm>
            <a:off x="1188720" y="3968496"/>
            <a:ext cx="2651760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19" name="Resume line"/>
          <p:cNvSpPr/>
          <p:nvPr/>
        </p:nvSpPr>
        <p:spPr>
          <a:xfrm>
            <a:off x="1188720" y="4151376"/>
            <a:ext cx="2121408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20" name="Resume line"/>
          <p:cNvSpPr/>
          <p:nvPr/>
        </p:nvSpPr>
        <p:spPr>
          <a:xfrm>
            <a:off x="1188720" y="4389120"/>
            <a:ext cx="822960" cy="109728"/>
          </a:xfrm>
          <a:prstGeom prst="rect">
            <a:avLst/>
          </a:prstGeom>
          <a:solidFill>
            <a:srgbClr val="B5AD9F"/>
          </a:solidFill>
          <a:ln>
            <a:noFill/>
          </a:ln>
        </p:spPr>
      </p:sp>
      <p:sp>
        <p:nvSpPr>
          <p:cNvPr id="21" name="Resume line"/>
          <p:cNvSpPr/>
          <p:nvPr/>
        </p:nvSpPr>
        <p:spPr>
          <a:xfrm>
            <a:off x="1188720" y="4608576"/>
            <a:ext cx="2834640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22" name="Resume line"/>
          <p:cNvSpPr/>
          <p:nvPr/>
        </p:nvSpPr>
        <p:spPr>
          <a:xfrm>
            <a:off x="1188720" y="4791456"/>
            <a:ext cx="2267712" cy="91440"/>
          </a:xfrm>
          <a:prstGeom prst="rect">
            <a:avLst/>
          </a:prstGeom>
          <a:solidFill>
            <a:srgbClr val="CFC7B9"/>
          </a:solidFill>
          <a:ln>
            <a:noFill/>
          </a:ln>
        </p:spPr>
      </p:sp>
      <p:sp>
        <p:nvSpPr>
          <p:cNvPr id="23" name="Gold sweep over the resume"/>
          <p:cNvSpPr/>
          <p:nvPr/>
        </p:nvSpPr>
        <p:spPr>
          <a:xfrm rot="-420000">
            <a:off x="411480" y="3063240"/>
            <a:ext cx="4480560" cy="502920"/>
          </a:xfrm>
          <a:prstGeom prst="parallelogram">
            <a:avLst>
              <a:gd name="adj" fmla="val 30000"/>
            </a:avLst>
          </a:prstGeom>
          <a:gradFill rotWithShape="1">
            <a:gsLst>
              <a:gs pos="0">
                <a:srgbClr val="F4E6C6">
                  <a:alpha val="92000"/>
                </a:srgbClr>
              </a:gs>
              <a:gs pos="50000">
                <a:srgbClr val="CBAE76">
                  <a:alpha val="92000"/>
                </a:srgbClr>
              </a:gs>
              <a:gs pos="100000">
                <a:srgbClr val="8A6D3B">
                  <a:alpha val="85000"/>
                </a:srgbClr>
              </a:gs>
            </a:gsLst>
            <a:lin ang="0" scaled="0"/>
          </a:gradFill>
          <a:ln>
            <a:noFill/>
          </a:ln>
          <a:effectLst>
            <a:outerShdw blurRad="177800" dist="50800" dir="5400000" algn="ctr" rotWithShape="0">
              <a:srgbClr val="7A5F2E">
                <a:alpha val="35000"/>
              </a:srgbClr>
            </a:outerShdw>
          </a:effectLst>
        </p:spPr>
      </p:sp>
      <p:sp>
        <p:nvSpPr>
          <p:cNvPr id="24" name="Eyebrow"/>
          <p:cNvSpPr txBox="1"/>
          <p:nvPr/>
        </p:nvSpPr>
        <p:spPr>
          <a:xfrm>
            <a:off x="5257800" y="8686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7A5F2E"/>
                </a:solidFill>
                <a:latin typeface="Calibri"/>
                <a:ea typeface="Calibri"/>
                <a:cs typeface="Calibri"/>
              </a:rPr>
              <a:t>BEFORE WE BEGIN</a:t>
            </a:r>
            <a:endParaRPr lang="en-IN" sz="1400" b="1" i="0" dirty="0" spc="300">
              <a:solidFill>
                <a:srgbClr val="7A5F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Headline"/>
          <p:cNvSpPr>
            <a:spLocks noGrp="1"/>
          </p:cNvSpPr>
          <p:nvPr>
            <p:ph type="title"/>
          </p:nvPr>
        </p:nvSpPr>
        <p:spPr>
          <a:xfrm>
            <a:off x="5257800" y="1280160"/>
            <a:ext cx="6492240" cy="2331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6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rPr>
              <a:t>You are more than what’s written on your </a:t>
            </a:r>
            <a:r>
              <a:rPr lang="en-IN" sz="4600" b="1" i="0" dirty="0">
                <a:solidFill>
                  <a:srgbClr val="7A5F2E"/>
                </a:solidFill>
                <a:latin typeface="Georgia"/>
                <a:ea typeface="Georgia"/>
                <a:cs typeface="Georgia"/>
              </a:rPr>
              <a:t>résumé.</a:t>
            </a:r>
            <a:endParaRPr lang="en-IN" sz="4600" b="1" i="0" dirty="0">
              <a:solidFill>
                <a:srgbClr val="7A5F2E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6" name="Lead-in"/>
          <p:cNvSpPr txBox="1"/>
          <p:nvPr/>
        </p:nvSpPr>
        <p:spPr>
          <a:xfrm>
            <a:off x="5257800" y="374904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6B6258"/>
                </a:solidFill>
                <a:latin typeface="Calibri"/>
                <a:ea typeface="Calibri"/>
                <a:cs typeface="Calibri"/>
              </a:rPr>
              <a:t>WHAT A RÉSUMÉ LEAVES OUT</a:t>
            </a:r>
            <a:endParaRPr lang="en-IN" sz="1400" b="1" i="0" dirty="0" spc="300">
              <a:solidFill>
                <a:srgbClr val="6B62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Marker 1"/>
          <p:cNvSpPr/>
          <p:nvPr/>
        </p:nvSpPr>
        <p:spPr>
          <a:xfrm>
            <a:off x="5285232" y="4379976"/>
            <a:ext cx="182880" cy="182880"/>
          </a:xfrm>
          <a:prstGeom prst="ellipse">
            <a:avLst/>
          </a:prstGeom>
          <a:solidFill>
            <a:srgbClr val="CBAE76"/>
          </a:solidFill>
          <a:ln>
            <a:noFill/>
          </a:ln>
        </p:spPr>
      </p:sp>
      <p:sp>
        <p:nvSpPr>
          <p:cNvPr id="28" name="Human line 1"/>
          <p:cNvSpPr txBox="1"/>
          <p:nvPr/>
        </p:nvSpPr>
        <p:spPr>
          <a:xfrm>
            <a:off x="5669280" y="4224528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dirty="0">
                <a:solidFill>
                  <a:srgbClr val="1C1820"/>
                </a:solidFill>
                <a:latin typeface="Georgia"/>
                <a:ea typeface="Georgia"/>
                <a:cs typeface="Georgia"/>
              </a:rPr>
              <a:t>The app you built at 2 a.m.</a:t>
            </a:r>
            <a:endParaRPr lang="en-IN" sz="2800" b="0" i="0" dirty="0">
              <a:solidFill>
                <a:srgbClr val="1C182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29" name="Marker 2"/>
          <p:cNvSpPr/>
          <p:nvPr/>
        </p:nvSpPr>
        <p:spPr>
          <a:xfrm>
            <a:off x="5285232" y="5038344"/>
            <a:ext cx="182880" cy="182880"/>
          </a:xfrm>
          <a:prstGeom prst="ellipse">
            <a:avLst/>
          </a:prstGeom>
          <a:solidFill>
            <a:srgbClr val="CBAE76"/>
          </a:solidFill>
          <a:ln>
            <a:noFill/>
          </a:ln>
        </p:spPr>
      </p:sp>
      <p:sp>
        <p:nvSpPr>
          <p:cNvPr id="30" name="Human line 2"/>
          <p:cNvSpPr txBox="1"/>
          <p:nvPr/>
        </p:nvSpPr>
        <p:spPr>
          <a:xfrm>
            <a:off x="5669280" y="4882896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dirty="0">
                <a:solidFill>
                  <a:srgbClr val="1C1820"/>
                </a:solidFill>
                <a:latin typeface="Georgia"/>
                <a:ea typeface="Georgia"/>
                <a:cs typeface="Georgia"/>
              </a:rPr>
              <a:t>How you explain what you know.</a:t>
            </a:r>
            <a:endParaRPr lang="en-IN" sz="2800" b="0" i="0" dirty="0">
              <a:solidFill>
                <a:srgbClr val="1C182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1" name="Marker 3"/>
          <p:cNvSpPr/>
          <p:nvPr/>
        </p:nvSpPr>
        <p:spPr>
          <a:xfrm>
            <a:off x="5285232" y="5696712"/>
            <a:ext cx="182880" cy="182880"/>
          </a:xfrm>
          <a:prstGeom prst="ellipse">
            <a:avLst/>
          </a:prstGeom>
          <a:solidFill>
            <a:srgbClr val="CBAE76"/>
          </a:solidFill>
          <a:ln>
            <a:noFill/>
          </a:ln>
        </p:spPr>
      </p:sp>
      <p:sp>
        <p:nvSpPr>
          <p:cNvPr id="32" name="Human line 3"/>
          <p:cNvSpPr txBox="1"/>
          <p:nvPr/>
        </p:nvSpPr>
        <p:spPr>
          <a:xfrm>
            <a:off x="5669280" y="5541264"/>
            <a:ext cx="6035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dirty="0">
                <a:solidFill>
                  <a:srgbClr val="1C1820"/>
                </a:solidFill>
                <a:latin typeface="Georgia"/>
                <a:ea typeface="Georgia"/>
                <a:cs typeface="Georgia"/>
              </a:rPr>
              <a:t>The idea you can’t let go of.</a:t>
            </a:r>
            <a:endParaRPr lang="en-IN" sz="2800" b="0" i="0" dirty="0">
              <a:solidFill>
                <a:srgbClr val="1C1820"/>
              </a:solidFill>
              <a:latin typeface="Georgia"/>
              <a:ea typeface="Georgia"/>
              <a:cs typeface="Georgia"/>
            </a:endParaRPr>
          </a:p>
        </p:txBody>
      </p:sp>
    </p:spTree>
  </p:cSld>
  <p:clrMapOvr>
    <a:masterClrMapping/>
  </p:clrMapOvr>
  <mc:AlternateContent>
    <mc:Choice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8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4206240" y="-137160"/>
            <a:ext cx="9144000" cy="6858000"/>
          </a:xfrm>
          <a:prstGeom prst="ellipse">
            <a:avLst/>
          </a:prstGeom>
          <a:gradFill rotWithShape="1">
            <a:gsLst>
              <a:gs pos="0">
                <a:srgbClr val="CBAE76">
                  <a:alpha val="26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-2286000" y="2971800"/>
            <a:ext cx="7315200" cy="5029200"/>
          </a:xfrm>
          <a:prstGeom prst="ellipse">
            <a:avLst/>
          </a:prstGeom>
          <a:gradFill rotWithShape="1">
            <a:gsLst>
              <a:gs pos="0">
                <a:srgbClr val="B7A9C4">
                  <a:alpha val="16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cone"/>
          <p:cNvSpPr/>
          <p:nvPr/>
        </p:nvSpPr>
        <p:spPr>
          <a:xfrm>
            <a:off x="6309360" y="0"/>
            <a:ext cx="4937760" cy="4206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40" y="0"/>
                </a:moveTo>
                <a:lnTo>
                  <a:pt x="56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F0D49C">
                  <a:alpha val="28000"/>
                </a:srgbClr>
              </a:gs>
              <a:gs pos="100000">
                <a:srgbClr val="CBAE7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5" name="!!rib3"/>
          <p:cNvSpPr/>
          <p:nvPr/>
        </p:nvSpPr>
        <p:spPr>
          <a:xfrm>
            <a:off x="-914400" y="6629400"/>
            <a:ext cx="14081760" cy="23774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2A1C33"/>
              </a:gs>
              <a:gs pos="100000">
                <a:srgbClr val="160F1C"/>
              </a:gs>
            </a:gsLst>
            <a:lin ang="5400000" scaled="0"/>
          </a:gradFill>
          <a:ln>
            <a:noFill/>
          </a:ln>
        </p:spPr>
      </p:sp>
      <p:sp>
        <p:nvSpPr>
          <p:cNvPr id="6" name="!!rib1"/>
          <p:cNvSpPr/>
          <p:nvPr/>
        </p:nvSpPr>
        <p:spPr>
          <a:xfrm>
            <a:off x="-914400" y="6172200"/>
            <a:ext cx="14081760" cy="30175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55000"/>
                </a:srgbClr>
              </a:gs>
              <a:gs pos="100000">
                <a:srgbClr val="3F2C4D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!!rib2"/>
          <p:cNvSpPr/>
          <p:nvPr/>
        </p:nvSpPr>
        <p:spPr>
          <a:xfrm flipH="1">
            <a:off x="-914400" y="6400800"/>
            <a:ext cx="14081760" cy="2743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85000"/>
                </a:srgbClr>
              </a:gs>
              <a:gs pos="50000">
                <a:srgbClr val="CBAE76">
                  <a:alpha val="85000"/>
                </a:srgbClr>
              </a:gs>
              <a:gs pos="100000">
                <a:srgbClr val="8A6D3B">
                  <a:alpha val="7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8" name="Eyebrow"/>
          <p:cNvSpPr txBox="1"/>
          <p:nvPr/>
        </p:nvSpPr>
        <p:spPr>
          <a:xfrm>
            <a:off x="822960" y="914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INTRODUCING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Headline"/>
          <p:cNvSpPr>
            <a:spLocks noGrp="1"/>
          </p:cNvSpPr>
          <p:nvPr>
            <p:ph type="title"/>
          </p:nvPr>
        </p:nvSpPr>
        <p:spPr>
          <a:xfrm>
            <a:off x="822960" y="1325880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What if your next opportunity began with </a:t>
            </a:r>
            <a:r>
              <a:rPr lang="en-IN" sz="4200" b="1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your story?</a:t>
            </a:r>
            <a:endParaRPr lang="en-IN" sz="4200" b="1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Explainer"/>
          <p:cNvSpPr txBox="1"/>
          <p:nvPr/>
        </p:nvSpPr>
        <p:spPr>
          <a:xfrm>
            <a:off x="822960" y="452628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A live pitch show. You, a stage, and the people who hire.</a:t>
            </a:r>
            <a:endParaRPr lang="en-IN" sz="24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6" name="Stage and candidate" descr="A candidate standing in a spotlight on a stage"/>
          <p:cNvGrpSpPr/>
          <p:nvPr/>
        </p:nvGrpSpPr>
        <p:grpSpPr>
          <a:xfrm>
            <a:off x="5715000" y="2011680"/>
            <a:ext cx="4937760" cy="2651760"/>
            <a:chOff x="5715000" y="2011680"/>
            <a:chExt cx="4937760" cy="2651760"/>
          </a:xfrm>
        </p:grpSpPr>
        <p:sp>
          <p:nvSpPr>
            <p:cNvPr id="11" name="Stage platform"/>
            <p:cNvSpPr/>
            <p:nvPr/>
          </p:nvSpPr>
          <p:spPr>
            <a:xfrm>
              <a:off x="5715000" y="3611880"/>
              <a:ext cx="4937760" cy="1051560"/>
            </a:xfrm>
            <a:prstGeom prst="ellipse">
              <a:avLst/>
            </a:prstGeom>
            <a:gradFill rotWithShape="1">
              <a:gsLst>
                <a:gs pos="0">
                  <a:srgbClr val="6B5A7A"/>
                </a:gs>
                <a:gs pos="100000">
                  <a:srgbClr val="2A1C33"/>
                </a:gs>
              </a:gsLst>
              <a:lin ang="5400000" scaled="0"/>
            </a:gradFill>
            <a:ln w="12700" cap="rnd">
              <a:solidFill>
                <a:srgbClr val="CBAE76">
                  <a:alpha val="70000"/>
                </a:srgbClr>
              </a:solidFill>
              <a:round/>
            </a:ln>
          </p:spPr>
        </p:sp>
        <p:sp>
          <p:nvSpPr>
            <p:cNvPr id="12" name="Stage light pool"/>
            <p:cNvSpPr/>
            <p:nvPr/>
          </p:nvSpPr>
          <p:spPr>
            <a:xfrm>
              <a:off x="6172200" y="3749040"/>
              <a:ext cx="4023360" cy="731520"/>
            </a:xfrm>
            <a:prstGeom prst="ellipse">
              <a:avLst/>
            </a:prstGeom>
            <a:gradFill rotWithShape="1">
              <a:gsLst>
                <a:gs pos="0">
                  <a:srgbClr val="F4E6C6">
                    <a:alpha val="7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3" name="Candidate glow"/>
            <p:cNvSpPr/>
            <p:nvPr/>
          </p:nvSpPr>
          <p:spPr>
            <a:xfrm>
              <a:off x="7086600" y="2011680"/>
              <a:ext cx="2194560" cy="2651760"/>
            </a:xfrm>
            <a:prstGeom prst="ellipse">
              <a:avLst/>
            </a:prstGeom>
            <a:gradFill rotWithShape="1">
              <a:gsLst>
                <a:gs pos="0">
                  <a:srgbClr val="F4E6C6">
                    <a:alpha val="4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4" name="Candidate head"/>
            <p:cNvSpPr/>
            <p:nvPr/>
          </p:nvSpPr>
          <p:spPr>
            <a:xfrm>
              <a:off x="7936992" y="2331720"/>
              <a:ext cx="493776" cy="493776"/>
            </a:xfrm>
            <a:prstGeom prst="ellipse">
              <a:avLst/>
            </a:prstGeom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5" name="Candidate body"/>
            <p:cNvSpPr/>
            <p:nvPr/>
          </p:nvSpPr>
          <p:spPr>
            <a:xfrm>
              <a:off x="7749540" y="2843784"/>
              <a:ext cx="868680" cy="141732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5400000" scaled="0"/>
            </a:gradFill>
            <a:ln>
              <a:noFill/>
            </a:ln>
          </p:spPr>
        </p:sp>
      </p:grpSp>
      <p:grpSp>
        <p:nvGrpSpPr>
          <p:cNvPr id="26" name="Recruiter panel" descr="A panel of recruiters seated at a desk facing the stage"/>
          <p:cNvGrpSpPr/>
          <p:nvPr/>
        </p:nvGrpSpPr>
        <p:grpSpPr>
          <a:xfrm>
            <a:off x="6080760" y="5074920"/>
            <a:ext cx="4206240" cy="978408"/>
            <a:chOff x="6080760" y="5074920"/>
            <a:chExt cx="4206240" cy="978408"/>
          </a:xfrm>
        </p:grpSpPr>
        <p:sp>
          <p:nvSpPr>
            <p:cNvPr id="17" name="Panel member 1 head"/>
            <p:cNvSpPr/>
            <p:nvPr/>
          </p:nvSpPr>
          <p:spPr>
            <a:xfrm>
              <a:off x="6675120" y="5074920"/>
              <a:ext cx="365760" cy="365760"/>
            </a:xfrm>
            <a:prstGeom prst="ellipse">
              <a:avLst/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" name="Panel member 1 body"/>
            <p:cNvSpPr/>
            <p:nvPr/>
          </p:nvSpPr>
          <p:spPr>
            <a:xfrm>
              <a:off x="6528816" y="5458968"/>
              <a:ext cx="658368" cy="50292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9" name="Panel member 2 head"/>
            <p:cNvSpPr/>
            <p:nvPr/>
          </p:nvSpPr>
          <p:spPr>
            <a:xfrm>
              <a:off x="7562088" y="5074920"/>
              <a:ext cx="365760" cy="365760"/>
            </a:xfrm>
            <a:prstGeom prst="ellipse">
              <a:avLst/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" name="Panel member 2 body"/>
            <p:cNvSpPr/>
            <p:nvPr/>
          </p:nvSpPr>
          <p:spPr>
            <a:xfrm>
              <a:off x="7415784" y="5458968"/>
              <a:ext cx="658368" cy="50292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" name="Panel member 3 head"/>
            <p:cNvSpPr/>
            <p:nvPr/>
          </p:nvSpPr>
          <p:spPr>
            <a:xfrm>
              <a:off x="8439912" y="5074920"/>
              <a:ext cx="365760" cy="365760"/>
            </a:xfrm>
            <a:prstGeom prst="ellipse">
              <a:avLst/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" name="Panel member 3 body"/>
            <p:cNvSpPr/>
            <p:nvPr/>
          </p:nvSpPr>
          <p:spPr>
            <a:xfrm>
              <a:off x="8293608" y="5458968"/>
              <a:ext cx="658368" cy="50292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" name="Panel member 4 head"/>
            <p:cNvSpPr/>
            <p:nvPr/>
          </p:nvSpPr>
          <p:spPr>
            <a:xfrm>
              <a:off x="9326880" y="5074920"/>
              <a:ext cx="365760" cy="365760"/>
            </a:xfrm>
            <a:prstGeom prst="ellipse">
              <a:avLst/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4" name="Panel member 4 body"/>
            <p:cNvSpPr/>
            <p:nvPr/>
          </p:nvSpPr>
          <p:spPr>
            <a:xfrm>
              <a:off x="9180576" y="5458968"/>
              <a:ext cx="658368" cy="50292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B7A9C4"/>
                </a:gs>
                <a:gs pos="100000">
                  <a:srgbClr val="8C7A9B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5" name="Panel desk"/>
            <p:cNvSpPr/>
            <p:nvPr/>
          </p:nvSpPr>
          <p:spPr>
            <a:xfrm>
              <a:off x="6080760" y="5870448"/>
              <a:ext cx="4206240" cy="182880"/>
            </a:xfrm>
            <a:prstGeom prst="roundRect">
              <a:avLst>
                <a:gd name="adj" fmla="val 40000"/>
              </a:avLst>
            </a:prstGeom>
            <a:gradFill rotWithShape="1">
              <a:gsLst>
                <a:gs pos="0">
                  <a:srgbClr val="3F2C4D"/>
                </a:gs>
                <a:gs pos="100000">
                  <a:srgbClr val="2A1C33"/>
                </a:gs>
              </a:gsLst>
              <a:lin ang="5400000" scaled="0"/>
            </a:gradFill>
            <a:ln w="12700" cap="rnd">
              <a:solidFill>
                <a:srgbClr val="CBAE76">
                  <a:alpha val="75000"/>
                </a:srgbClr>
              </a:solidFill>
              <a:round/>
            </a:ln>
          </p:spPr>
        </p:sp>
      </p:grpSp>
      <p:grpSp>
        <p:nvGrpSpPr>
          <p:cNvPr id="51" name="Audience" descr="Rows of audience members watching"/>
          <p:cNvGrpSpPr/>
          <p:nvPr/>
        </p:nvGrpSpPr>
        <p:grpSpPr>
          <a:xfrm>
            <a:off x="4882896" y="6236208"/>
            <a:ext cx="6601968" cy="713232"/>
            <a:chOff x="4882896" y="6236208"/>
            <a:chExt cx="6601968" cy="713232"/>
          </a:xfrm>
        </p:grpSpPr>
        <p:sp>
          <p:nvSpPr>
            <p:cNvPr id="27" name="Audience 1 head"/>
            <p:cNvSpPr/>
            <p:nvPr/>
          </p:nvSpPr>
          <p:spPr>
            <a:xfrm>
              <a:off x="500176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28" name="Audience 1 body"/>
            <p:cNvSpPr/>
            <p:nvPr/>
          </p:nvSpPr>
          <p:spPr>
            <a:xfrm>
              <a:off x="488289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29" name="Audience 2 head"/>
            <p:cNvSpPr/>
            <p:nvPr/>
          </p:nvSpPr>
          <p:spPr>
            <a:xfrm>
              <a:off x="555040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0" name="Audience 2 body"/>
            <p:cNvSpPr/>
            <p:nvPr/>
          </p:nvSpPr>
          <p:spPr>
            <a:xfrm>
              <a:off x="543153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1" name="Audience 3 head"/>
            <p:cNvSpPr/>
            <p:nvPr/>
          </p:nvSpPr>
          <p:spPr>
            <a:xfrm>
              <a:off x="609904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2" name="Audience 3 body"/>
            <p:cNvSpPr/>
            <p:nvPr/>
          </p:nvSpPr>
          <p:spPr>
            <a:xfrm>
              <a:off x="598017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3" name="Audience 4 head"/>
            <p:cNvSpPr/>
            <p:nvPr/>
          </p:nvSpPr>
          <p:spPr>
            <a:xfrm>
              <a:off x="664768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4" name="Audience 4 body"/>
            <p:cNvSpPr/>
            <p:nvPr/>
          </p:nvSpPr>
          <p:spPr>
            <a:xfrm>
              <a:off x="652881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5" name="Audience 5 head"/>
            <p:cNvSpPr/>
            <p:nvPr/>
          </p:nvSpPr>
          <p:spPr>
            <a:xfrm>
              <a:off x="719632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6" name="Audience 5 body"/>
            <p:cNvSpPr/>
            <p:nvPr/>
          </p:nvSpPr>
          <p:spPr>
            <a:xfrm>
              <a:off x="707745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7" name="Audience 6 head"/>
            <p:cNvSpPr/>
            <p:nvPr/>
          </p:nvSpPr>
          <p:spPr>
            <a:xfrm>
              <a:off x="774496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8" name="Audience 6 body"/>
            <p:cNvSpPr/>
            <p:nvPr/>
          </p:nvSpPr>
          <p:spPr>
            <a:xfrm>
              <a:off x="762609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39" name="Audience 7 head"/>
            <p:cNvSpPr/>
            <p:nvPr/>
          </p:nvSpPr>
          <p:spPr>
            <a:xfrm>
              <a:off x="829360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0" name="Audience 7 body"/>
            <p:cNvSpPr/>
            <p:nvPr/>
          </p:nvSpPr>
          <p:spPr>
            <a:xfrm>
              <a:off x="817473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1" name="Audience 8 head"/>
            <p:cNvSpPr/>
            <p:nvPr/>
          </p:nvSpPr>
          <p:spPr>
            <a:xfrm>
              <a:off x="884224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2" name="Audience 8 body"/>
            <p:cNvSpPr/>
            <p:nvPr/>
          </p:nvSpPr>
          <p:spPr>
            <a:xfrm>
              <a:off x="872337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3" name="Audience 9 head"/>
            <p:cNvSpPr/>
            <p:nvPr/>
          </p:nvSpPr>
          <p:spPr>
            <a:xfrm>
              <a:off x="939088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4" name="Audience 9 body"/>
            <p:cNvSpPr/>
            <p:nvPr/>
          </p:nvSpPr>
          <p:spPr>
            <a:xfrm>
              <a:off x="927201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5" name="Audience 10 head"/>
            <p:cNvSpPr/>
            <p:nvPr/>
          </p:nvSpPr>
          <p:spPr>
            <a:xfrm>
              <a:off x="993952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6" name="Audience 10 body"/>
            <p:cNvSpPr/>
            <p:nvPr/>
          </p:nvSpPr>
          <p:spPr>
            <a:xfrm>
              <a:off x="982065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7" name="Audience 11 head"/>
            <p:cNvSpPr/>
            <p:nvPr/>
          </p:nvSpPr>
          <p:spPr>
            <a:xfrm>
              <a:off x="1048816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8" name="Audience 11 body"/>
            <p:cNvSpPr/>
            <p:nvPr/>
          </p:nvSpPr>
          <p:spPr>
            <a:xfrm>
              <a:off x="1036929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49" name="Audience 12 head"/>
            <p:cNvSpPr/>
            <p:nvPr/>
          </p:nvSpPr>
          <p:spPr>
            <a:xfrm>
              <a:off x="11036808" y="6236208"/>
              <a:ext cx="329184" cy="329184"/>
            </a:xfrm>
            <a:prstGeom prst="ellipse">
              <a:avLst/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  <p:sp>
          <p:nvSpPr>
            <p:cNvPr id="50" name="Audience 12 body"/>
            <p:cNvSpPr/>
            <p:nvPr/>
          </p:nvSpPr>
          <p:spPr>
            <a:xfrm>
              <a:off x="10917936" y="6583680"/>
              <a:ext cx="566928" cy="36576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F0A14"/>
            </a:solidFill>
            <a:ln w="7620" cap="rnd">
              <a:solidFill>
                <a:srgbClr val="B7A9C4">
                  <a:alpha val="35000"/>
                </a:srgbClr>
              </a:solidFill>
              <a:round/>
            </a:ln>
          </p:spPr>
        </p:sp>
      </p:grpSp>
      <p:sp>
        <p:nvSpPr>
          <p:cNvPr id="52" name="Label candidate"/>
          <p:cNvSpPr txBox="1"/>
          <p:nvPr/>
        </p:nvSpPr>
        <p:spPr>
          <a:xfrm>
            <a:off x="8915400" y="2606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THE CANDIDATE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Label panel"/>
          <p:cNvSpPr txBox="1"/>
          <p:nvPr/>
        </p:nvSpPr>
        <p:spPr>
          <a:xfrm>
            <a:off x="10469880" y="513892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THE PANEL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1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4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0E0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-1325880" y="-640080"/>
            <a:ext cx="10515600" cy="8229600"/>
          </a:xfrm>
          <a:prstGeom prst="ellipse">
            <a:avLst/>
          </a:prstGeom>
          <a:gradFill rotWithShape="1">
            <a:gsLst>
              <a:gs pos="0">
                <a:srgbClr val="CBAE76">
                  <a:alpha val="22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7315200" y="-914400"/>
            <a:ext cx="6400800" cy="5486400"/>
          </a:xfrm>
          <a:prstGeom prst="ellipse">
            <a:avLst/>
          </a:prstGeom>
          <a:gradFill rotWithShape="1">
            <a:gsLst>
              <a:gs pos="0">
                <a:srgbClr val="B7A9C4">
                  <a:alpha val="16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cone"/>
          <p:cNvSpPr/>
          <p:nvPr/>
        </p:nvSpPr>
        <p:spPr>
          <a:xfrm>
            <a:off x="457200" y="0"/>
            <a:ext cx="6949440" cy="6858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40" y="0"/>
                </a:moveTo>
                <a:lnTo>
                  <a:pt x="560" y="0"/>
                </a:ln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F0D49C">
                  <a:alpha val="16000"/>
                </a:srgbClr>
              </a:gs>
              <a:gs pos="100000">
                <a:srgbClr val="CBAE76">
                  <a:alpha val="0"/>
                </a:srgbClr>
              </a:gs>
            </a:gsLst>
            <a:lin ang="5400000" scaled="0"/>
          </a:gradFill>
          <a:ln>
            <a:noFill/>
          </a:ln>
        </p:spPr>
      </p:sp>
      <p:sp>
        <p:nvSpPr>
          <p:cNvPr id="5" name="!!rib3"/>
          <p:cNvSpPr/>
          <p:nvPr/>
        </p:nvSpPr>
        <p:spPr>
          <a:xfrm>
            <a:off x="-914400" y="6309360"/>
            <a:ext cx="14081760" cy="25603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1A1223"/>
              </a:gs>
              <a:gs pos="100000">
                <a:srgbClr val="0E0913"/>
              </a:gs>
            </a:gsLst>
            <a:lin ang="5400000" scaled="0"/>
          </a:gradFill>
          <a:ln>
            <a:noFill/>
          </a:ln>
        </p:spPr>
      </p:sp>
      <p:sp>
        <p:nvSpPr>
          <p:cNvPr id="6" name="!!rib1"/>
          <p:cNvSpPr/>
          <p:nvPr/>
        </p:nvSpPr>
        <p:spPr>
          <a:xfrm>
            <a:off x="-914400" y="5212080"/>
            <a:ext cx="14081760" cy="3566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40000"/>
                </a:srgbClr>
              </a:gs>
              <a:gs pos="100000">
                <a:srgbClr val="3F2C4D">
                  <a:alpha val="7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!!rib2"/>
          <p:cNvSpPr/>
          <p:nvPr/>
        </p:nvSpPr>
        <p:spPr>
          <a:xfrm>
            <a:off x="-914400" y="5669280"/>
            <a:ext cx="14081760" cy="32004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70000"/>
                </a:srgbClr>
              </a:gs>
              <a:gs pos="50000">
                <a:srgbClr val="CBAE76">
                  <a:alpha val="70000"/>
                </a:srgbClr>
              </a:gs>
              <a:gs pos="100000">
                <a:srgbClr val="8A6D3B">
                  <a:alpha val="6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8" name="Eyebrow"/>
          <p:cNvSpPr txBox="1"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WHAT WE’VE BEEN BUILDING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Burst glow"/>
          <p:cNvSpPr/>
          <p:nvPr/>
        </p:nvSpPr>
        <p:spPr>
          <a:xfrm>
            <a:off x="0" y="548640"/>
            <a:ext cx="7863840" cy="6217920"/>
          </a:xfrm>
          <a:prstGeom prst="ellipse">
            <a:avLst/>
          </a:prstGeom>
          <a:gradFill rotWithShape="1">
            <a:gsLst>
              <a:gs pos="0">
                <a:srgbClr val="F4E6C6">
                  <a:alpha val="55000"/>
                </a:srgbClr>
              </a:gs>
              <a:gs pos="35000">
                <a:srgbClr val="CBAE76">
                  <a:alpha val="22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10" name="Halo ring 1"/>
          <p:cNvSpPr/>
          <p:nvPr/>
        </p:nvSpPr>
        <p:spPr>
          <a:xfrm>
            <a:off x="1554480" y="1143000"/>
            <a:ext cx="4572000" cy="4572000"/>
          </a:xfrm>
          <a:prstGeom prst="ellipse">
            <a:avLst/>
          </a:prstGeom>
          <a:noFill/>
          <a:ln w="15875" cap="rnd">
            <a:solidFill>
              <a:srgbClr val="CBAE76">
                <a:alpha val="55000"/>
              </a:srgbClr>
            </a:solidFill>
            <a:round/>
          </a:ln>
        </p:spPr>
      </p:sp>
      <p:sp>
        <p:nvSpPr>
          <p:cNvPr id="11" name="Halo ring 2"/>
          <p:cNvSpPr/>
          <p:nvPr/>
        </p:nvSpPr>
        <p:spPr>
          <a:xfrm>
            <a:off x="731520" y="320040"/>
            <a:ext cx="6217920" cy="6217920"/>
          </a:xfrm>
          <a:prstGeom prst="ellipse">
            <a:avLst/>
          </a:prstGeom>
          <a:noFill/>
          <a:ln w="15875" cap="rnd">
            <a:solidFill>
              <a:srgbClr val="CBAE76">
                <a:alpha val="35000"/>
              </a:srgbClr>
            </a:solidFill>
            <a:round/>
          </a:ln>
        </p:spPr>
      </p:sp>
      <p:sp>
        <p:nvSpPr>
          <p:cNvPr id="12" name="Halo ring 3"/>
          <p:cNvSpPr/>
          <p:nvPr/>
        </p:nvSpPr>
        <p:spPr>
          <a:xfrm>
            <a:off x="-182880" y="-594360"/>
            <a:ext cx="8046720" cy="8046720"/>
          </a:xfrm>
          <a:prstGeom prst="ellipse">
            <a:avLst/>
          </a:prstGeom>
          <a:noFill/>
          <a:ln w="15875" cap="rnd">
            <a:solidFill>
              <a:srgbClr val="CBAE76">
                <a:alpha val="20000"/>
              </a:srgbClr>
            </a:solidFill>
            <a:round/>
          </a:ln>
        </p:spPr>
      </p:sp>
      <p:sp>
        <p:nvSpPr>
          <p:cNvPr id="13" name="16"/>
          <p:cNvSpPr>
            <a:spLocks noGrp="1"/>
          </p:cNvSpPr>
          <p:nvPr>
            <p:ph type="title"/>
          </p:nvPr>
        </p:nvSpPr>
        <p:spPr>
          <a:xfrm>
            <a:off x="182880" y="502920"/>
            <a:ext cx="7406640" cy="5852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rtlCol="0">
            <a:noAutofit/>
          </a:bodyPr>
          <a:lstStyle/>
          <a:p>
            <a:pPr algn="ctr" marL="0" indent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2000" b="1" i="0" dirty="0">
                <a:gradFill rotWithShape="1">
                  <a:gsLst>
                    <a:gs pos="0">
                      <a:srgbClr val="FFF3D6"/>
                    </a:gs>
                    <a:gs pos="45000">
                      <a:srgbClr val="CBAE76"/>
                    </a:gs>
                    <a:gs pos="100000">
                      <a:srgbClr val="8A6D3B"/>
                    </a:gs>
                  </a:gsLst>
                  <a:lin ang="5400000" scaled="0"/>
                </a:gradFill>
                <a:latin typeface="Cambria"/>
                <a:ea typeface="Cambria"/>
                <a:cs typeface="Cambria"/>
              </a:rPr>
              <a:t>16</a:t>
            </a:r>
            <a:endParaRPr lang="en-IN" sz="42000" b="1" i="0" dirty="0">
              <a:gradFill rotWithShape="1">
                <a:gsLst>
                  <a:gs pos="0">
                    <a:srgbClr val="FFF3D6"/>
                  </a:gs>
                  <a:gs pos="45000">
                    <a:srgbClr val="CBAE76"/>
                  </a:gs>
                  <a:gs pos="100000">
                    <a:srgbClr val="8A6D3B"/>
                  </a:gs>
                </a:gsLst>
                <a:lin ang="5400000" scaled="0"/>
              </a:gradFill>
              <a:latin typeface="Cambria"/>
              <a:ea typeface="Cambria"/>
              <a:cs typeface="Cambria"/>
            </a:endParaRPr>
          </a:p>
        </p:txBody>
      </p:sp>
      <p:sp>
        <p:nvSpPr>
          <p:cNvPr id="14" name="Recruiters"/>
          <p:cNvSpPr txBox="1"/>
          <p:nvPr/>
        </p:nvSpPr>
        <p:spPr>
          <a:xfrm>
            <a:off x="7223760" y="1965960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dirty="0" spc="15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RECRUITERS</a:t>
            </a:r>
            <a:endParaRPr lang="en-IN" sz="4400" b="1" i="0" dirty="0" spc="15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5" name="Secured"/>
          <p:cNvSpPr txBox="1"/>
          <p:nvPr/>
        </p:nvSpPr>
        <p:spPr>
          <a:xfrm>
            <a:off x="7223760" y="2743200"/>
            <a:ext cx="448056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1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secured.</a:t>
            </a:r>
            <a:endParaRPr lang="en-IN" sz="4800" b="1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6" name="Promise 1"/>
          <p:cNvSpPr txBox="1"/>
          <p:nvPr/>
        </p:nvSpPr>
        <p:spPr>
          <a:xfrm>
            <a:off x="7223760" y="39776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Real recruiters.</a:t>
            </a:r>
            <a:endParaRPr lang="en-IN" sz="26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Promise 2"/>
          <p:cNvSpPr txBox="1"/>
          <p:nvPr/>
        </p:nvSpPr>
        <p:spPr>
          <a:xfrm>
            <a:off x="7223760" y="445312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Real conversations.</a:t>
            </a:r>
            <a:endParaRPr lang="en-IN" sz="26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Promise 3"/>
          <p:cNvSpPr txBox="1"/>
          <p:nvPr/>
        </p:nvSpPr>
        <p:spPr>
          <a:xfrm>
            <a:off x="7223760" y="4928616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0" i="0" dirty="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Real possibilities.</a:t>
            </a:r>
            <a:endParaRPr lang="en-IN" sz="2600" b="0" i="0" dirty="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Qualifier"/>
          <p:cNvSpPr txBox="1"/>
          <p:nvPr/>
        </p:nvSpPr>
        <p:spPr>
          <a:xfrm>
            <a:off x="7223760" y="580644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B7A9C4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Each recruiter makes their own decisions.</a:t>
            </a:r>
            <a:endParaRPr lang="en-IN" sz="1500" b="0" i="0" dirty="0">
              <a:solidFill>
                <a:srgbClr val="B7A9C4">
                  <a:alpha val="90000"/>
                </a:srgbClr>
              </a:solidFill>
              <a:latin typeface="Calibri"/>
              <a:ea typeface="Calibri"/>
              <a:cs typeface="Calibri"/>
            </a:endParaRP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B7A9C4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No outcome is guaranteed.</a:t>
            </a:r>
            <a:endParaRPr lang="en-IN" sz="1500" b="0" i="0" dirty="0">
              <a:solidFill>
                <a:srgbClr val="B7A9C4">
                  <a:alpha val="90000"/>
                </a:srgb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>
    <mc:Choice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2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2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2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6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7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6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4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3200400" y="-1691640"/>
            <a:ext cx="10058400" cy="5943600"/>
          </a:xfrm>
          <a:prstGeom prst="ellipse">
            <a:avLst/>
          </a:prstGeom>
          <a:gradFill rotWithShape="1">
            <a:gsLst>
              <a:gs pos="0">
                <a:srgbClr val="CBAE76">
                  <a:alpha val="16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-1828800" y="1828800"/>
            <a:ext cx="7315200" cy="5486400"/>
          </a:xfrm>
          <a:prstGeom prst="ellipse">
            <a:avLst/>
          </a:prstGeom>
          <a:gradFill rotWithShape="1">
            <a:gsLst>
              <a:gs pos="0">
                <a:srgbClr val="B7A9C4">
                  <a:alpha val="14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ib3"/>
          <p:cNvSpPr/>
          <p:nvPr/>
        </p:nvSpPr>
        <p:spPr>
          <a:xfrm>
            <a:off x="-914400" y="6309360"/>
            <a:ext cx="14081760" cy="21945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2A1C33"/>
              </a:gs>
              <a:gs pos="100000">
                <a:srgbClr val="160F1C"/>
              </a:gs>
            </a:gsLst>
            <a:lin ang="5400000" scaled="0"/>
          </a:gradFill>
          <a:ln>
            <a:noFill/>
          </a:ln>
        </p:spPr>
      </p:sp>
      <p:sp>
        <p:nvSpPr>
          <p:cNvPr id="5" name="!!rib1"/>
          <p:cNvSpPr/>
          <p:nvPr/>
        </p:nvSpPr>
        <p:spPr>
          <a:xfrm flipH="1">
            <a:off x="-914400" y="5486400"/>
            <a:ext cx="14081760" cy="29260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55000"/>
                </a:srgbClr>
              </a:gs>
              <a:gs pos="100000">
                <a:srgbClr val="3F2C4D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" name="!!rib2"/>
          <p:cNvSpPr/>
          <p:nvPr/>
        </p:nvSpPr>
        <p:spPr>
          <a:xfrm>
            <a:off x="-914400" y="5806440"/>
            <a:ext cx="14081760" cy="26517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85000"/>
                </a:srgbClr>
              </a:gs>
              <a:gs pos="50000">
                <a:srgbClr val="CBAE76">
                  <a:alpha val="85000"/>
                </a:srgbClr>
              </a:gs>
              <a:gs pos="100000">
                <a:srgbClr val="8A6D3B">
                  <a:alpha val="7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Headline"/>
          <p:cNvSpPr>
            <a:spLocks noGrp="1"/>
          </p:cNvSpPr>
          <p:nvPr>
            <p:ph type="title"/>
          </p:nvPr>
        </p:nvSpPr>
        <p:spPr>
          <a:xfrm>
            <a:off x="822960" y="731520"/>
            <a:ext cx="7498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6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Four paths. </a:t>
            </a:r>
            <a:r>
              <a:rPr lang="en-IN" sz="4600" b="1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One room.</a:t>
            </a:r>
            <a:endParaRPr lang="en-IN" sz="4600" b="1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Subhead"/>
          <p:cNvSpPr txBox="1"/>
          <p:nvPr/>
        </p:nvSpPr>
        <p:spPr>
          <a:xfrm>
            <a:off x="8503920" y="731520"/>
            <a:ext cx="31089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Whatever you’re good at, there’s a way to show it.</a:t>
            </a:r>
            <a:endParaRPr lang="en-IN" sz="22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8" name="Path: IT &amp; Technology" descr="IT &amp; Technology: Show them how you build."/>
          <p:cNvGrpSpPr/>
          <p:nvPr/>
        </p:nvGrpSpPr>
        <p:grpSpPr>
          <a:xfrm>
            <a:off x="713232" y="2331720"/>
            <a:ext cx="2542032" cy="4178808"/>
            <a:chOff x="713232" y="2331720"/>
            <a:chExt cx="2542032" cy="4178808"/>
          </a:xfrm>
        </p:grpSpPr>
        <p:sp>
          <p:nvSpPr>
            <p:cNvPr id="9" name="IT &amp; Technology arch"/>
            <p:cNvSpPr/>
            <p:nvPr/>
          </p:nvSpPr>
          <p:spPr>
            <a:xfrm>
              <a:off x="713232" y="2331720"/>
              <a:ext cx="2542032" cy="4178808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382A42"/>
                </a:gs>
                <a:gs pos="100000">
                  <a:srgbClr val="6A5F73"/>
                </a:gs>
              </a:gsLst>
              <a:lin ang="5400000" scaled="0"/>
            </a:gradFill>
            <a:ln w="15875" cap="rnd">
              <a:solidFill>
                <a:srgbClr val="B7A9C4">
                  <a:alpha val="85000"/>
                </a:srgbClr>
              </a:solidFill>
              <a:round/>
            </a:ln>
          </p:spPr>
        </p:sp>
        <p:sp>
          <p:nvSpPr>
            <p:cNvPr id="10" name="IT &amp; Technology inner arch"/>
            <p:cNvSpPr/>
            <p:nvPr/>
          </p:nvSpPr>
          <p:spPr>
            <a:xfrm>
              <a:off x="896112" y="2514600"/>
              <a:ext cx="2176272" cy="3995928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 cap="rnd">
              <a:solidFill>
                <a:srgbClr val="F6F1E9">
                  <a:alpha val="22000"/>
                </a:srgbClr>
              </a:solidFill>
              <a:round/>
            </a:ln>
          </p:spPr>
        </p:sp>
        <p:sp>
          <p:nvSpPr>
            <p:cNvPr id="11" name="Layer 1"/>
            <p:cNvSpPr/>
            <p:nvPr/>
          </p:nvSpPr>
          <p:spPr>
            <a:xfrm>
              <a:off x="1298448" y="3611880"/>
              <a:ext cx="1371600" cy="256032"/>
            </a:xfrm>
            <a:prstGeom prst="roundRect">
              <a:avLst>
                <a:gd name="adj" fmla="val 30000"/>
              </a:avLst>
            </a:prstGeom>
            <a:solidFill>
              <a:srgbClr val="D0C7D9">
                <a:alpha val="22000"/>
              </a:srgbClr>
            </a:solidFill>
            <a:ln w="28575" cap="rnd">
              <a:solidFill>
                <a:srgbClr val="D0C7D9">
                  <a:alpha val="95000"/>
                </a:srgbClr>
              </a:solidFill>
              <a:round/>
            </a:ln>
          </p:spPr>
        </p:sp>
        <p:sp>
          <p:nvSpPr>
            <p:cNvPr id="12" name="Layer 2"/>
            <p:cNvSpPr/>
            <p:nvPr/>
          </p:nvSpPr>
          <p:spPr>
            <a:xfrm>
              <a:off x="1499616" y="3977640"/>
              <a:ext cx="1371600" cy="256032"/>
            </a:xfrm>
            <a:prstGeom prst="roundRect">
              <a:avLst>
                <a:gd name="adj" fmla="val 30000"/>
              </a:avLst>
            </a:prstGeom>
            <a:solidFill>
              <a:srgbClr val="D0C7D9">
                <a:alpha val="22000"/>
              </a:srgbClr>
            </a:solidFill>
            <a:ln w="28575" cap="rnd">
              <a:solidFill>
                <a:srgbClr val="D0C7D9">
                  <a:alpha val="95000"/>
                </a:srgbClr>
              </a:solidFill>
              <a:round/>
            </a:ln>
          </p:spPr>
        </p:sp>
        <p:sp>
          <p:nvSpPr>
            <p:cNvPr id="13" name="Layer 3"/>
            <p:cNvSpPr/>
            <p:nvPr/>
          </p:nvSpPr>
          <p:spPr>
            <a:xfrm>
              <a:off x="1207008" y="4343400"/>
              <a:ext cx="1371600" cy="256032"/>
            </a:xfrm>
            <a:prstGeom prst="roundRect">
              <a:avLst>
                <a:gd name="adj" fmla="val 30000"/>
              </a:avLst>
            </a:prstGeom>
            <a:solidFill>
              <a:srgbClr val="D0C7D9">
                <a:alpha val="22000"/>
              </a:srgbClr>
            </a:solidFill>
            <a:ln w="28575" cap="rnd">
              <a:solidFill>
                <a:srgbClr val="D0C7D9">
                  <a:alpha val="95000"/>
                </a:srgbClr>
              </a:solidFill>
              <a:round/>
            </a:ln>
          </p:spPr>
        </p:sp>
        <p:sp>
          <p:nvSpPr>
            <p:cNvPr id="14" name="Node stem"/>
            <p:cNvSpPr/>
            <p:nvPr/>
          </p:nvSpPr>
          <p:spPr>
            <a:xfrm>
              <a:off x="1965960" y="3035808"/>
              <a:ext cx="36576" cy="530352"/>
            </a:xfrm>
            <a:prstGeom prst="rect">
              <a:avLst/>
            </a:prstGeom>
            <a:solidFill>
              <a:srgbClr val="D0C7D9">
                <a:alpha val="95000"/>
              </a:srgbClr>
            </a:solidFill>
            <a:ln>
              <a:noFill/>
            </a:ln>
          </p:spPr>
        </p:sp>
        <p:sp>
          <p:nvSpPr>
            <p:cNvPr id="15" name="Node"/>
            <p:cNvSpPr/>
            <p:nvPr/>
          </p:nvSpPr>
          <p:spPr>
            <a:xfrm>
              <a:off x="1828800" y="2852928"/>
              <a:ext cx="310896" cy="310896"/>
            </a:xfrm>
            <a:prstGeom prst="ellipse">
              <a:avLst/>
            </a:prstGeom>
            <a:solidFill>
              <a:srgbClr val="D0C7D9">
                <a:alpha val="95000"/>
              </a:srgbClr>
            </a:solidFill>
            <a:ln>
              <a:noFill/>
            </a:ln>
          </p:spPr>
        </p:sp>
        <p:sp>
          <p:nvSpPr>
            <p:cNvPr id="16" name="IT &amp; Technology title"/>
            <p:cNvSpPr txBox="1"/>
            <p:nvPr/>
          </p:nvSpPr>
          <p:spPr>
            <a:xfrm>
              <a:off x="896112" y="4727448"/>
              <a:ext cx="2176272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ctr" marL="0" inden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 b="1" i="0" dirty="0">
                  <a:solidFill>
                    <a:srgbClr val="F6F1E9"/>
                  </a:solidFill>
                  <a:latin typeface="Georgia"/>
                  <a:ea typeface="Georgia"/>
                  <a:cs typeface="Georgia"/>
                </a:rPr>
                <a:t>IT &amp; Technology</a:t>
              </a:r>
              <a:endParaRPr lang="en-IN" sz="2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17" name="IT &amp; Technology line"/>
            <p:cNvSpPr txBox="1"/>
            <p:nvPr/>
          </p:nvSpPr>
          <p:spPr>
            <a:xfrm>
              <a:off x="914400" y="5641848"/>
              <a:ext cx="21396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 marL="0" indent="0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0" i="0" dirty="0">
                  <a:solidFill>
                    <a:srgbClr val="F6F1E9">
                      <a:alpha val="92000"/>
                    </a:srgbClr>
                  </a:solidFill>
                  <a:latin typeface="Calibri"/>
                  <a:ea typeface="Calibri"/>
                  <a:cs typeface="Calibri"/>
                </a:rPr>
                <a:t>Show them how you build.</a:t>
              </a:r>
              <a:endParaRPr lang="en-IN" sz="1600" b="0" i="0" dirty="0">
                <a:solidFill>
                  <a:srgbClr val="F6F1E9">
                    <a:alpha val="92000"/>
                  </a:srgbClr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Path: Finance" descr="Finance: Make the numbers speak."/>
          <p:cNvGrpSpPr/>
          <p:nvPr/>
        </p:nvGrpSpPr>
        <p:grpSpPr>
          <a:xfrm>
            <a:off x="3511296" y="2011680"/>
            <a:ext cx="2542032" cy="4498848"/>
            <a:chOff x="3511296" y="2011680"/>
            <a:chExt cx="2542032" cy="4498848"/>
          </a:xfrm>
        </p:grpSpPr>
        <p:sp>
          <p:nvSpPr>
            <p:cNvPr id="19" name="Finance arch"/>
            <p:cNvSpPr/>
            <p:nvPr/>
          </p:nvSpPr>
          <p:spPr>
            <a:xfrm>
              <a:off x="3511296" y="2011680"/>
              <a:ext cx="2542032" cy="4498848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3A2B3A"/>
                </a:gs>
                <a:gs pos="100000">
                  <a:srgbClr val="74624B"/>
                </a:gs>
              </a:gsLst>
              <a:lin ang="5400000" scaled="0"/>
            </a:gradFill>
            <a:ln w="15875" cap="rnd">
              <a:solidFill>
                <a:srgbClr val="CBAE76">
                  <a:alpha val="85000"/>
                </a:srgbClr>
              </a:solidFill>
              <a:round/>
            </a:ln>
          </p:spPr>
        </p:sp>
        <p:sp>
          <p:nvSpPr>
            <p:cNvPr id="20" name="Finance inner arch"/>
            <p:cNvSpPr/>
            <p:nvPr/>
          </p:nvSpPr>
          <p:spPr>
            <a:xfrm>
              <a:off x="3694176" y="2194560"/>
              <a:ext cx="2176272" cy="4315968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 cap="rnd">
              <a:solidFill>
                <a:srgbClr val="F6F1E9">
                  <a:alpha val="22000"/>
                </a:srgbClr>
              </a:solidFill>
              <a:round/>
            </a:ln>
          </p:spPr>
        </p:sp>
        <p:sp>
          <p:nvSpPr>
            <p:cNvPr id="21" name="Pediment"/>
            <p:cNvSpPr/>
            <p:nvPr/>
          </p:nvSpPr>
          <p:spPr>
            <a:xfrm>
              <a:off x="4005072" y="2651760"/>
              <a:ext cx="1554480" cy="502920"/>
            </a:xfrm>
            <a:prstGeom prst="triangle">
              <a:avLst/>
            </a:prstGeom>
            <a:solidFill>
              <a:srgbClr val="DDCAA6">
                <a:alpha val="22000"/>
              </a:srgbClr>
            </a:solidFill>
            <a:ln w="28575" cap="rnd">
              <a:solidFill>
                <a:srgbClr val="DDCAA6">
                  <a:alpha val="95000"/>
                </a:srgbClr>
              </a:solidFill>
              <a:round/>
            </a:ln>
          </p:spPr>
        </p:sp>
        <p:sp>
          <p:nvSpPr>
            <p:cNvPr id="22" name="Column 1"/>
            <p:cNvSpPr/>
            <p:nvPr/>
          </p:nvSpPr>
          <p:spPr>
            <a:xfrm>
              <a:off x="4160520" y="3246120"/>
              <a:ext cx="155448" cy="822960"/>
            </a:xfrm>
            <a:prstGeom prst="rect">
              <a:avLst/>
            </a:prstGeom>
            <a:solidFill>
              <a:srgbClr val="DDCAA6">
                <a:alpha val="90000"/>
              </a:srgbClr>
            </a:solidFill>
            <a:ln>
              <a:noFill/>
            </a:ln>
          </p:spPr>
        </p:sp>
        <p:sp>
          <p:nvSpPr>
            <p:cNvPr id="23" name="Column 2"/>
            <p:cNvSpPr/>
            <p:nvPr/>
          </p:nvSpPr>
          <p:spPr>
            <a:xfrm>
              <a:off x="4526280" y="3246120"/>
              <a:ext cx="155448" cy="822960"/>
            </a:xfrm>
            <a:prstGeom prst="rect">
              <a:avLst/>
            </a:prstGeom>
            <a:solidFill>
              <a:srgbClr val="DDCAA6">
                <a:alpha val="90000"/>
              </a:srgbClr>
            </a:solidFill>
            <a:ln>
              <a:noFill/>
            </a:ln>
          </p:spPr>
        </p:sp>
        <p:sp>
          <p:nvSpPr>
            <p:cNvPr id="24" name="Column 3"/>
            <p:cNvSpPr/>
            <p:nvPr/>
          </p:nvSpPr>
          <p:spPr>
            <a:xfrm>
              <a:off x="4892040" y="3246120"/>
              <a:ext cx="155448" cy="822960"/>
            </a:xfrm>
            <a:prstGeom prst="rect">
              <a:avLst/>
            </a:prstGeom>
            <a:solidFill>
              <a:srgbClr val="DDCAA6">
                <a:alpha val="90000"/>
              </a:srgbClr>
            </a:solidFill>
            <a:ln>
              <a:noFill/>
            </a:ln>
          </p:spPr>
        </p:sp>
        <p:sp>
          <p:nvSpPr>
            <p:cNvPr id="25" name="Column 4"/>
            <p:cNvSpPr/>
            <p:nvPr/>
          </p:nvSpPr>
          <p:spPr>
            <a:xfrm>
              <a:off x="5257800" y="3246120"/>
              <a:ext cx="155448" cy="822960"/>
            </a:xfrm>
            <a:prstGeom prst="rect">
              <a:avLst/>
            </a:prstGeom>
            <a:solidFill>
              <a:srgbClr val="DDCAA6">
                <a:alpha val="90000"/>
              </a:srgbClr>
            </a:solidFill>
            <a:ln>
              <a:noFill/>
            </a:ln>
          </p:spPr>
        </p:sp>
        <p:sp>
          <p:nvSpPr>
            <p:cNvPr id="26" name="Base"/>
            <p:cNvSpPr/>
            <p:nvPr/>
          </p:nvSpPr>
          <p:spPr>
            <a:xfrm>
              <a:off x="3959352" y="4142232"/>
              <a:ext cx="1645920" cy="128016"/>
            </a:xfrm>
            <a:prstGeom prst="rect">
              <a:avLst/>
            </a:prstGeom>
            <a:solidFill>
              <a:srgbClr val="DDCAA6">
                <a:alpha val="95000"/>
              </a:srgbClr>
            </a:solidFill>
            <a:ln>
              <a:noFill/>
            </a:ln>
          </p:spPr>
        </p:sp>
        <p:sp>
          <p:nvSpPr>
            <p:cNvPr id="27" name="Finance title"/>
            <p:cNvSpPr txBox="1"/>
            <p:nvPr/>
          </p:nvSpPr>
          <p:spPr>
            <a:xfrm>
              <a:off x="3694176" y="4727448"/>
              <a:ext cx="2176272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ctr" marL="0" inden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 b="1" i="0" dirty="0">
                  <a:solidFill>
                    <a:srgbClr val="F6F1E9"/>
                  </a:solidFill>
                  <a:latin typeface="Georgia"/>
                  <a:ea typeface="Georgia"/>
                  <a:cs typeface="Georgia"/>
                </a:rPr>
                <a:t>Finance</a:t>
              </a:r>
              <a:endParaRPr lang="en-IN" sz="2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28" name="Finance line"/>
            <p:cNvSpPr txBox="1"/>
            <p:nvPr/>
          </p:nvSpPr>
          <p:spPr>
            <a:xfrm>
              <a:off x="3712464" y="5641848"/>
              <a:ext cx="21396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 marL="0" indent="0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0" i="0" dirty="0">
                  <a:solidFill>
                    <a:srgbClr val="F6F1E9">
                      <a:alpha val="92000"/>
                    </a:srgbClr>
                  </a:solidFill>
                  <a:latin typeface="Calibri"/>
                  <a:ea typeface="Calibri"/>
                  <a:cs typeface="Calibri"/>
                </a:rPr>
                <a:t>Make the numbers speak.</a:t>
              </a:r>
              <a:endParaRPr lang="en-IN" sz="1600" b="0" i="0" dirty="0">
                <a:solidFill>
                  <a:srgbClr val="F6F1E9">
                    <a:alpha val="92000"/>
                  </a:srgbClr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40" name="Path: Sales &amp; Marketing" descr="Sales &amp; Marketing: Sell the idea. Starting with yourself."/>
          <p:cNvGrpSpPr/>
          <p:nvPr/>
        </p:nvGrpSpPr>
        <p:grpSpPr>
          <a:xfrm>
            <a:off x="6309360" y="2423160"/>
            <a:ext cx="2542032" cy="4087368"/>
            <a:chOff x="6309360" y="2423160"/>
            <a:chExt cx="2542032" cy="4087368"/>
          </a:xfrm>
        </p:grpSpPr>
        <p:sp>
          <p:nvSpPr>
            <p:cNvPr id="30" name="Sales &amp; Marketing arch"/>
            <p:cNvSpPr/>
            <p:nvPr/>
          </p:nvSpPr>
          <p:spPr>
            <a:xfrm>
              <a:off x="6309360" y="2423160"/>
              <a:ext cx="2542032" cy="4087368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3C2C3E"/>
                </a:gs>
                <a:gs pos="100000">
                  <a:srgbClr val="7B6664"/>
                </a:gs>
              </a:gsLst>
              <a:lin ang="5400000" scaled="0"/>
            </a:gradFill>
            <a:ln w="15875" cap="rnd">
              <a:solidFill>
                <a:srgbClr val="D9B7A6">
                  <a:alpha val="85000"/>
                </a:srgbClr>
              </a:solidFill>
              <a:round/>
            </a:ln>
          </p:spPr>
        </p:sp>
        <p:sp>
          <p:nvSpPr>
            <p:cNvPr id="31" name="Sales &amp; Marketing inner arch"/>
            <p:cNvSpPr/>
            <p:nvPr/>
          </p:nvSpPr>
          <p:spPr>
            <a:xfrm>
              <a:off x="6492240" y="2606040"/>
              <a:ext cx="2176272" cy="3904488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 cap="rnd">
              <a:solidFill>
                <a:srgbClr val="F6F1E9">
                  <a:alpha val="22000"/>
                </a:srgbClr>
              </a:solidFill>
              <a:round/>
            </a:ln>
          </p:spPr>
        </p:sp>
        <p:sp>
          <p:nvSpPr>
            <p:cNvPr id="32" name="Bubble"/>
            <p:cNvSpPr/>
            <p:nvPr/>
          </p:nvSpPr>
          <p:spPr>
            <a:xfrm>
              <a:off x="6894576" y="3383280"/>
              <a:ext cx="1371600" cy="914400"/>
            </a:xfrm>
            <a:prstGeom prst="wedgeRoundRectCallout">
              <a:avLst>
                <a:gd name="adj1" fmla="val -28000"/>
                <a:gd name="adj2" fmla="val 68000"/>
                <a:gd name="adj3" fmla="val 16667"/>
              </a:avLst>
            </a:prstGeom>
            <a:solidFill>
              <a:srgbClr val="E6D0C5">
                <a:alpha val="22000"/>
              </a:srgbClr>
            </a:solidFill>
            <a:ln w="28575" cap="rnd">
              <a:solidFill>
                <a:srgbClr val="E6D0C5">
                  <a:alpha val="95000"/>
                </a:srgbClr>
              </a:solidFill>
              <a:round/>
            </a:ln>
          </p:spPr>
        </p:sp>
        <p:sp>
          <p:nvSpPr>
            <p:cNvPr id="33" name="Bubble line 1"/>
            <p:cNvSpPr/>
            <p:nvPr/>
          </p:nvSpPr>
          <p:spPr>
            <a:xfrm>
              <a:off x="7168896" y="3657600"/>
              <a:ext cx="822960" cy="91440"/>
            </a:xfrm>
            <a:prstGeom prst="rect">
              <a:avLst/>
            </a:prstGeom>
            <a:solidFill>
              <a:srgbClr val="E6D0C5">
                <a:alpha val="90000"/>
              </a:srgbClr>
            </a:solidFill>
            <a:ln>
              <a:noFill/>
            </a:ln>
          </p:spPr>
        </p:sp>
        <p:sp>
          <p:nvSpPr>
            <p:cNvPr id="34" name="Bubble line 2"/>
            <p:cNvSpPr/>
            <p:nvPr/>
          </p:nvSpPr>
          <p:spPr>
            <a:xfrm>
              <a:off x="7168896" y="3895344"/>
              <a:ext cx="566928" cy="91440"/>
            </a:xfrm>
            <a:prstGeom prst="rect">
              <a:avLst/>
            </a:prstGeom>
            <a:solidFill>
              <a:srgbClr val="E6D0C5">
                <a:alpha val="90000"/>
              </a:srgbClr>
            </a:solidFill>
            <a:ln>
              <a:noFill/>
            </a:ln>
          </p:spPr>
        </p:sp>
        <p:sp>
          <p:nvSpPr>
            <p:cNvPr id="35" name="Spark 1"/>
            <p:cNvSpPr/>
            <p:nvPr/>
          </p:nvSpPr>
          <p:spPr>
            <a:xfrm rot="2100000">
              <a:off x="8247888" y="3182112"/>
              <a:ext cx="274320" cy="41148"/>
            </a:xfrm>
            <a:prstGeom prst="rect">
              <a:avLst/>
            </a:prstGeom>
            <a:solidFill>
              <a:srgbClr val="E6D0C5">
                <a:alpha val="95000"/>
              </a:srgbClr>
            </a:solidFill>
            <a:ln>
              <a:noFill/>
            </a:ln>
          </p:spPr>
        </p:sp>
        <p:sp>
          <p:nvSpPr>
            <p:cNvPr id="36" name="Spark 2"/>
            <p:cNvSpPr/>
            <p:nvPr/>
          </p:nvSpPr>
          <p:spPr>
            <a:xfrm rot="300000">
              <a:off x="8375904" y="3493008"/>
              <a:ext cx="274320" cy="41148"/>
            </a:xfrm>
            <a:prstGeom prst="rect">
              <a:avLst/>
            </a:prstGeom>
            <a:solidFill>
              <a:srgbClr val="E6D0C5">
                <a:alpha val="95000"/>
              </a:srgbClr>
            </a:solidFill>
            <a:ln>
              <a:noFill/>
            </a:ln>
          </p:spPr>
        </p:sp>
        <p:sp>
          <p:nvSpPr>
            <p:cNvPr id="37" name="Spark 3"/>
            <p:cNvSpPr/>
            <p:nvPr/>
          </p:nvSpPr>
          <p:spPr>
            <a:xfrm rot="3900000">
              <a:off x="8065008" y="2944368"/>
              <a:ext cx="274320" cy="41148"/>
            </a:xfrm>
            <a:prstGeom prst="rect">
              <a:avLst/>
            </a:prstGeom>
            <a:solidFill>
              <a:srgbClr val="E6D0C5">
                <a:alpha val="95000"/>
              </a:srgbClr>
            </a:solidFill>
            <a:ln>
              <a:noFill/>
            </a:ln>
          </p:spPr>
        </p:sp>
        <p:sp>
          <p:nvSpPr>
            <p:cNvPr id="38" name="Sales &amp; Marketing title"/>
            <p:cNvSpPr txBox="1"/>
            <p:nvPr/>
          </p:nvSpPr>
          <p:spPr>
            <a:xfrm>
              <a:off x="6492240" y="4727448"/>
              <a:ext cx="2176272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ctr" marL="0" inden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 b="1" i="0" dirty="0">
                  <a:solidFill>
                    <a:srgbClr val="F6F1E9"/>
                  </a:solidFill>
                  <a:latin typeface="Georgia"/>
                  <a:ea typeface="Georgia"/>
                  <a:cs typeface="Georgia"/>
                </a:rPr>
                <a:t>Sales &amp; Marketing</a:t>
              </a:r>
              <a:endParaRPr lang="en-IN" sz="2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39" name="Sales &amp; Marketing line"/>
            <p:cNvSpPr txBox="1"/>
            <p:nvPr/>
          </p:nvSpPr>
          <p:spPr>
            <a:xfrm>
              <a:off x="6510528" y="5641848"/>
              <a:ext cx="21396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 marL="0" indent="0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0" i="0" dirty="0">
                  <a:solidFill>
                    <a:srgbClr val="F6F1E9">
                      <a:alpha val="92000"/>
                    </a:srgbClr>
                  </a:solidFill>
                  <a:latin typeface="Calibri"/>
                  <a:ea typeface="Calibri"/>
                  <a:cs typeface="Calibri"/>
                </a:rPr>
                <a:t>Sell the idea. Starting with yourself.</a:t>
              </a:r>
              <a:endParaRPr lang="en-IN" sz="1600" b="0" i="0" dirty="0">
                <a:solidFill>
                  <a:srgbClr val="F6F1E9">
                    <a:alpha val="92000"/>
                  </a:srgbClr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52" name="Path: Animation &amp; Multimedia" descr="Animation &amp; Multimedia: Let the work move them."/>
          <p:cNvGrpSpPr/>
          <p:nvPr/>
        </p:nvGrpSpPr>
        <p:grpSpPr>
          <a:xfrm>
            <a:off x="9107424" y="2103120"/>
            <a:ext cx="2542032" cy="4407408"/>
            <a:chOff x="9107424" y="2103120"/>
            <a:chExt cx="2542032" cy="4407408"/>
          </a:xfrm>
        </p:grpSpPr>
        <p:sp>
          <p:nvSpPr>
            <p:cNvPr id="41" name="Animation &amp; Multimedia arch"/>
            <p:cNvSpPr/>
            <p:nvPr/>
          </p:nvSpPr>
          <p:spPr>
            <a:xfrm>
              <a:off x="9107424" y="2103120"/>
              <a:ext cx="2542032" cy="4407408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1">
              <a:gsLst>
                <a:gs pos="0">
                  <a:srgbClr val="352740"/>
                </a:gs>
                <a:gs pos="100000">
                  <a:srgbClr val="5C4D69"/>
                </a:gs>
              </a:gsLst>
              <a:lin ang="5400000" scaled="0"/>
            </a:gradFill>
            <a:ln w="15875" cap="rnd">
              <a:solidFill>
                <a:srgbClr val="9C86B0">
                  <a:alpha val="85000"/>
                </a:srgbClr>
              </a:solidFill>
              <a:round/>
            </a:ln>
          </p:spPr>
        </p:sp>
        <p:sp>
          <p:nvSpPr>
            <p:cNvPr id="42" name="Animation &amp; Multimedia inner arch"/>
            <p:cNvSpPr/>
            <p:nvPr/>
          </p:nvSpPr>
          <p:spPr>
            <a:xfrm>
              <a:off x="9290304" y="2286000"/>
              <a:ext cx="2176272" cy="4224528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9525" cap="rnd">
              <a:solidFill>
                <a:srgbClr val="F6F1E9">
                  <a:alpha val="22000"/>
                </a:srgbClr>
              </a:solidFill>
              <a:round/>
            </a:ln>
          </p:spPr>
        </p:sp>
        <p:sp>
          <p:nvSpPr>
            <p:cNvPr id="43" name="Trajectory"/>
            <p:cNvSpPr/>
            <p:nvPr/>
          </p:nvSpPr>
          <p:spPr>
            <a:xfrm>
              <a:off x="9555480" y="2880360"/>
              <a:ext cx="1645920" cy="1188720"/>
            </a:xfrm>
            <a:custGeom>
              <a:avLst/>
              <a:gdLst/>
              <a:ahLst/>
              <a:cxnLst/>
              <a:rect l="0" t="0" r="r" b="b"/>
              <a:pathLst>
                <a:path w="1000" h="1000">
                  <a:moveTo>
                    <a:pt x="0" y="1000"/>
                  </a:moveTo>
                  <a:cubicBezTo>
                    <a:pt x="250" y="-250"/>
                    <a:pt x="750" y="-250"/>
                    <a:pt x="1000" y="1000"/>
                  </a:cubicBezTo>
                </a:path>
              </a:pathLst>
            </a:custGeom>
            <a:noFill/>
            <a:ln w="22225" cap="rnd">
              <a:solidFill>
                <a:srgbClr val="BFB0CC">
                  <a:alpha val="60000"/>
                </a:srgbClr>
              </a:solidFill>
              <a:prstDash val="dash"/>
              <a:round/>
            </a:ln>
          </p:spPr>
        </p:sp>
        <p:sp>
          <p:nvSpPr>
            <p:cNvPr id="44" name="Frame 1"/>
            <p:cNvSpPr/>
            <p:nvPr/>
          </p:nvSpPr>
          <p:spPr>
            <a:xfrm>
              <a:off x="9518904" y="3941064"/>
              <a:ext cx="164592" cy="164592"/>
            </a:xfrm>
            <a:prstGeom prst="ellipse">
              <a:avLst/>
            </a:prstGeom>
            <a:solidFill>
              <a:srgbClr val="BFB0CC">
                <a:alpha val="25000"/>
              </a:srgbClr>
            </a:solidFill>
            <a:ln w="19050" cap="rnd">
              <a:solidFill>
                <a:srgbClr val="BFB0CC">
                  <a:alpha val="45000"/>
                </a:srgbClr>
              </a:solidFill>
              <a:round/>
            </a:ln>
          </p:spPr>
        </p:sp>
        <p:sp>
          <p:nvSpPr>
            <p:cNvPr id="45" name="Frame 2"/>
            <p:cNvSpPr/>
            <p:nvPr/>
          </p:nvSpPr>
          <p:spPr>
            <a:xfrm>
              <a:off x="9875520" y="3355848"/>
              <a:ext cx="237744" cy="237744"/>
            </a:xfrm>
            <a:prstGeom prst="ellipse">
              <a:avLst/>
            </a:prstGeom>
            <a:solidFill>
              <a:srgbClr val="BFB0CC">
                <a:alpha val="45000"/>
              </a:srgbClr>
            </a:solidFill>
            <a:ln w="19050" cap="rnd">
              <a:solidFill>
                <a:srgbClr val="BFB0CC">
                  <a:alpha val="65000"/>
                </a:srgbClr>
              </a:solidFill>
              <a:round/>
            </a:ln>
          </p:spPr>
        </p:sp>
        <p:sp>
          <p:nvSpPr>
            <p:cNvPr id="46" name="Frame 3"/>
            <p:cNvSpPr/>
            <p:nvPr/>
          </p:nvSpPr>
          <p:spPr>
            <a:xfrm>
              <a:off x="10241280" y="2907792"/>
              <a:ext cx="310896" cy="310896"/>
            </a:xfrm>
            <a:prstGeom prst="ellipse">
              <a:avLst/>
            </a:prstGeom>
            <a:solidFill>
              <a:srgbClr val="BFB0CC">
                <a:alpha val="70000"/>
              </a:srgbClr>
            </a:solidFill>
            <a:ln w="19050" cap="rnd">
              <a:solidFill>
                <a:srgbClr val="BFB0CC">
                  <a:alpha val="89999"/>
                </a:srgbClr>
              </a:solidFill>
              <a:round/>
            </a:ln>
          </p:spPr>
        </p:sp>
        <p:sp>
          <p:nvSpPr>
            <p:cNvPr id="47" name="Frame 4"/>
            <p:cNvSpPr/>
            <p:nvPr/>
          </p:nvSpPr>
          <p:spPr>
            <a:xfrm>
              <a:off x="10643616" y="3218688"/>
              <a:ext cx="384048" cy="384048"/>
            </a:xfrm>
            <a:prstGeom prst="ellipse">
              <a:avLst/>
            </a:prstGeom>
            <a:solidFill>
              <a:srgbClr val="BFB0CC">
                <a:alpha val="90000"/>
              </a:srgbClr>
            </a:solidFill>
            <a:ln w="19050" cap="rnd">
              <a:solidFill>
                <a:srgbClr val="BFB0CC"/>
              </a:solidFill>
              <a:round/>
            </a:ln>
          </p:spPr>
        </p:sp>
        <p:sp>
          <p:nvSpPr>
            <p:cNvPr id="48" name="Frame 5"/>
            <p:cNvSpPr/>
            <p:nvPr/>
          </p:nvSpPr>
          <p:spPr>
            <a:xfrm>
              <a:off x="10954512" y="3794760"/>
              <a:ext cx="457200" cy="457200"/>
            </a:xfrm>
            <a:prstGeom prst="ellipse">
              <a:avLst/>
            </a:prstGeom>
            <a:solidFill>
              <a:srgbClr val="BFB0CC"/>
            </a:solidFill>
            <a:ln w="19050" cap="rnd">
              <a:solidFill>
                <a:srgbClr val="BFB0CC"/>
              </a:solidFill>
              <a:round/>
            </a:ln>
          </p:spPr>
        </p:sp>
        <p:sp>
          <p:nvSpPr>
            <p:cNvPr id="49" name="Floor"/>
            <p:cNvSpPr/>
            <p:nvPr/>
          </p:nvSpPr>
          <p:spPr>
            <a:xfrm>
              <a:off x="9464040" y="4270248"/>
              <a:ext cx="1828800" cy="45720"/>
            </a:xfrm>
            <a:prstGeom prst="rect">
              <a:avLst/>
            </a:prstGeom>
            <a:solidFill>
              <a:srgbClr val="BFB0CC">
                <a:alpha val="80000"/>
              </a:srgbClr>
            </a:solidFill>
            <a:ln>
              <a:noFill/>
            </a:ln>
          </p:spPr>
        </p:sp>
        <p:sp>
          <p:nvSpPr>
            <p:cNvPr id="50" name="Animation &amp; Multimedia title"/>
            <p:cNvSpPr txBox="1"/>
            <p:nvPr/>
          </p:nvSpPr>
          <p:spPr>
            <a:xfrm>
              <a:off x="9290304" y="4727448"/>
              <a:ext cx="2176272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rtlCol="0">
              <a:noAutofit/>
            </a:bodyPr>
            <a:lstStyle/>
            <a:p>
              <a:pPr algn="ctr" marL="0" inden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200" b="1" i="0" dirty="0">
                  <a:solidFill>
                    <a:srgbClr val="F6F1E9"/>
                  </a:solidFill>
                  <a:latin typeface="Georgia"/>
                  <a:ea typeface="Georgia"/>
                  <a:cs typeface="Georgia"/>
                </a:rPr>
                <a:t>Animation &amp; Multimedia</a:t>
              </a:r>
              <a:endParaRPr lang="en-IN" sz="2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endParaRPr>
            </a:p>
          </p:txBody>
        </p:sp>
        <p:sp>
          <p:nvSpPr>
            <p:cNvPr id="51" name="Animation &amp; Multimedia line"/>
            <p:cNvSpPr txBox="1"/>
            <p:nvPr/>
          </p:nvSpPr>
          <p:spPr>
            <a:xfrm>
              <a:off x="9308592" y="5641848"/>
              <a:ext cx="21396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ctr" marL="0" indent="0">
                <a:lnSpc>
                  <a:spcPct val="9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 b="0" i="0" dirty="0">
                  <a:solidFill>
                    <a:srgbClr val="F6F1E9">
                      <a:alpha val="92000"/>
                    </a:srgbClr>
                  </a:solidFill>
                  <a:latin typeface="Calibri"/>
                  <a:ea typeface="Calibri"/>
                  <a:cs typeface="Calibri"/>
                </a:rPr>
                <a:t>Let the work move them.</a:t>
              </a:r>
              <a:endParaRPr lang="en-IN" sz="1600" b="0" i="0" dirty="0">
                <a:solidFill>
                  <a:srgbClr val="F6F1E9">
                    <a:alpha val="92000"/>
                  </a:srgbClr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4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10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4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4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 decel="100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5029200" y="-960120"/>
            <a:ext cx="9144000" cy="5943600"/>
          </a:xfrm>
          <a:prstGeom prst="ellipse">
            <a:avLst/>
          </a:prstGeom>
          <a:gradFill rotWithShape="1">
            <a:gsLst>
              <a:gs pos="0">
                <a:srgbClr val="CBAE76">
                  <a:alpha val="18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-2286000" y="2286000"/>
            <a:ext cx="7315200" cy="5486400"/>
          </a:xfrm>
          <a:prstGeom prst="ellipse">
            <a:avLst/>
          </a:prstGeom>
          <a:gradFill rotWithShape="1">
            <a:gsLst>
              <a:gs pos="0">
                <a:srgbClr val="B7A9C4">
                  <a:alpha val="14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ib3"/>
          <p:cNvSpPr/>
          <p:nvPr/>
        </p:nvSpPr>
        <p:spPr>
          <a:xfrm>
            <a:off x="-914400" y="6400800"/>
            <a:ext cx="14081760" cy="21945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2A1C33"/>
              </a:gs>
              <a:gs pos="100000">
                <a:srgbClr val="160F1C"/>
              </a:gs>
            </a:gsLst>
            <a:lin ang="5400000" scaled="0"/>
          </a:gradFill>
          <a:ln>
            <a:noFill/>
          </a:ln>
        </p:spPr>
      </p:sp>
      <p:sp>
        <p:nvSpPr>
          <p:cNvPr id="5" name="!!rib1"/>
          <p:cNvSpPr/>
          <p:nvPr/>
        </p:nvSpPr>
        <p:spPr>
          <a:xfrm>
            <a:off x="-914400" y="5577840"/>
            <a:ext cx="14081760" cy="30175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55000"/>
                </a:srgbClr>
              </a:gs>
              <a:gs pos="100000">
                <a:srgbClr val="3F2C4D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" name="!!rib2"/>
          <p:cNvSpPr/>
          <p:nvPr/>
        </p:nvSpPr>
        <p:spPr>
          <a:xfrm flipH="1">
            <a:off x="-914400" y="5943600"/>
            <a:ext cx="14081760" cy="2743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85000"/>
                </a:srgbClr>
              </a:gs>
              <a:gs pos="50000">
                <a:srgbClr val="CBAE76">
                  <a:alpha val="85000"/>
                </a:srgbClr>
              </a:gs>
              <a:gs pos="100000">
                <a:srgbClr val="8A6D3B">
                  <a:alpha val="7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Eyebrow"/>
          <p:cNvSpPr txBox="1"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HOW IT WORKS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Headline"/>
          <p:cNvSpPr>
            <a:spLocks noGrp="1"/>
          </p:cNvSpPr>
          <p:nvPr>
            <p:ph type="title"/>
          </p:nvPr>
        </p:nvSpPr>
        <p:spPr>
          <a:xfrm>
            <a:off x="822960" y="1005840"/>
            <a:ext cx="6766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6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Your path to the</a:t>
            </a:r>
            <a:endParaRPr lang="en-IN" sz="46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600" b="1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spotlight.</a:t>
            </a:r>
            <a:endParaRPr lang="en-IN" sz="4600" b="1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9" name="Guide 1"/>
          <p:cNvSpPr/>
          <p:nvPr/>
        </p:nvSpPr>
        <p:spPr>
          <a:xfrm>
            <a:off x="1097280" y="4206240"/>
            <a:ext cx="2331720" cy="6400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499" y="1000"/>
                  <a:pt x="499" y="0"/>
                  <a:pt x="1000" y="0"/>
                </a:cubicBezTo>
              </a:path>
            </a:pathLst>
          </a:custGeom>
          <a:noFill/>
          <a:ln w="25400" cap="rnd">
            <a:solidFill>
              <a:srgbClr val="B7A9C4">
                <a:alpha val="28000"/>
              </a:srgbClr>
            </a:solidFill>
            <a:prstDash val="sysDash"/>
            <a:round/>
          </a:ln>
        </p:spPr>
      </p:sp>
      <p:sp>
        <p:nvSpPr>
          <p:cNvPr id="10" name="Guide 2"/>
          <p:cNvSpPr/>
          <p:nvPr/>
        </p:nvSpPr>
        <p:spPr>
          <a:xfrm>
            <a:off x="3429000" y="3611880"/>
            <a:ext cx="2331720" cy="594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500" y="1000"/>
                  <a:pt x="500" y="0"/>
                  <a:pt x="1000" y="0"/>
                </a:cubicBezTo>
              </a:path>
            </a:pathLst>
          </a:custGeom>
          <a:noFill/>
          <a:ln w="25400" cap="rnd">
            <a:solidFill>
              <a:srgbClr val="B7A9C4">
                <a:alpha val="28000"/>
              </a:srgbClr>
            </a:solidFill>
            <a:prstDash val="sysDash"/>
            <a:round/>
          </a:ln>
        </p:spPr>
      </p:sp>
      <p:sp>
        <p:nvSpPr>
          <p:cNvPr id="11" name="Guide 3"/>
          <p:cNvSpPr/>
          <p:nvPr/>
        </p:nvSpPr>
        <p:spPr>
          <a:xfrm>
            <a:off x="5760720" y="2971800"/>
            <a:ext cx="2331720" cy="6400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499" y="1000"/>
                  <a:pt x="499" y="0"/>
                  <a:pt x="1000" y="0"/>
                </a:cubicBezTo>
              </a:path>
            </a:pathLst>
          </a:custGeom>
          <a:noFill/>
          <a:ln w="25400" cap="rnd">
            <a:solidFill>
              <a:srgbClr val="B7A9C4">
                <a:alpha val="28000"/>
              </a:srgbClr>
            </a:solidFill>
            <a:prstDash val="sysDash"/>
            <a:round/>
          </a:ln>
        </p:spPr>
      </p:sp>
      <p:sp>
        <p:nvSpPr>
          <p:cNvPr id="12" name="Guide 4"/>
          <p:cNvSpPr/>
          <p:nvPr/>
        </p:nvSpPr>
        <p:spPr>
          <a:xfrm>
            <a:off x="8092440" y="2286000"/>
            <a:ext cx="2148840" cy="685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499" y="1000"/>
                  <a:pt x="499" y="0"/>
                  <a:pt x="1000" y="0"/>
                </a:cubicBezTo>
              </a:path>
            </a:pathLst>
          </a:custGeom>
          <a:noFill/>
          <a:ln w="25400" cap="rnd">
            <a:solidFill>
              <a:srgbClr val="B7A9C4">
                <a:alpha val="28000"/>
              </a:srgbClr>
            </a:solidFill>
            <a:prstDash val="sysDash"/>
            <a:round/>
          </a:ln>
        </p:spPr>
      </p:sp>
      <p:sp>
        <p:nvSpPr>
          <p:cNvPr id="13" name="Path 1"/>
          <p:cNvSpPr/>
          <p:nvPr/>
        </p:nvSpPr>
        <p:spPr>
          <a:xfrm>
            <a:off x="1097280" y="4206240"/>
            <a:ext cx="2331720" cy="6400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499" y="1000"/>
                  <a:pt x="499" y="0"/>
                  <a:pt x="1000" y="0"/>
                </a:cubicBezTo>
              </a:path>
            </a:pathLst>
          </a:custGeom>
          <a:noFill/>
          <a:ln w="76200" cap="rnd"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0" scaled="0"/>
            </a:gradFill>
            <a:round/>
          </a:ln>
        </p:spPr>
      </p:sp>
      <p:sp>
        <p:nvSpPr>
          <p:cNvPr id="14" name="Path 2"/>
          <p:cNvSpPr/>
          <p:nvPr/>
        </p:nvSpPr>
        <p:spPr>
          <a:xfrm>
            <a:off x="3429000" y="3611880"/>
            <a:ext cx="2331720" cy="594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500" y="1000"/>
                  <a:pt x="500" y="0"/>
                  <a:pt x="1000" y="0"/>
                </a:cubicBezTo>
              </a:path>
            </a:pathLst>
          </a:custGeom>
          <a:noFill/>
          <a:ln w="76200" cap="rnd"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0" scaled="0"/>
            </a:gradFill>
            <a:round/>
          </a:ln>
        </p:spPr>
      </p:sp>
      <p:sp>
        <p:nvSpPr>
          <p:cNvPr id="15" name="Path 3"/>
          <p:cNvSpPr/>
          <p:nvPr/>
        </p:nvSpPr>
        <p:spPr>
          <a:xfrm>
            <a:off x="5760720" y="2971800"/>
            <a:ext cx="2331720" cy="6400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499" y="1000"/>
                  <a:pt x="499" y="0"/>
                  <a:pt x="1000" y="0"/>
                </a:cubicBezTo>
              </a:path>
            </a:pathLst>
          </a:custGeom>
          <a:noFill/>
          <a:ln w="76200" cap="rnd"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0" scaled="0"/>
            </a:gradFill>
            <a:round/>
          </a:ln>
        </p:spPr>
      </p:sp>
      <p:sp>
        <p:nvSpPr>
          <p:cNvPr id="16" name="Path 4"/>
          <p:cNvSpPr/>
          <p:nvPr/>
        </p:nvSpPr>
        <p:spPr>
          <a:xfrm>
            <a:off x="8092440" y="2286000"/>
            <a:ext cx="2148840" cy="6858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cubicBezTo>
                  <a:pt x="499" y="1000"/>
                  <a:pt x="499" y="0"/>
                  <a:pt x="1000" y="0"/>
                </a:cubicBezTo>
              </a:path>
            </a:pathLst>
          </a:custGeom>
          <a:noFill/>
          <a:ln w="76200" cap="rnd"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0" scaled="0"/>
            </a:gradFill>
            <a:round/>
          </a:ln>
        </p:spPr>
      </p:sp>
      <p:grpSp>
        <p:nvGrpSpPr>
          <p:cNvPr id="19" name="Step 1 marker"/>
          <p:cNvGrpSpPr/>
          <p:nvPr/>
        </p:nvGrpSpPr>
        <p:grpSpPr>
          <a:xfrm>
            <a:off x="475488" y="4224528"/>
            <a:ext cx="1243584" cy="1243584"/>
            <a:chOff x="475488" y="4224528"/>
            <a:chExt cx="1243584" cy="1243584"/>
          </a:xfrm>
        </p:grpSpPr>
        <p:sp>
          <p:nvSpPr>
            <p:cNvPr id="17" name="Node 1 halo"/>
            <p:cNvSpPr/>
            <p:nvPr/>
          </p:nvSpPr>
          <p:spPr>
            <a:xfrm>
              <a:off x="475488" y="4224528"/>
              <a:ext cx="1243584" cy="1243584"/>
            </a:xfrm>
            <a:prstGeom prst="ellipse">
              <a:avLst/>
            </a:prstGeom>
            <a:gradFill rotWithShape="1">
              <a:gsLst>
                <a:gs pos="0">
                  <a:srgbClr val="CBAE76">
                    <a:alpha val="4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8" name="Node 1"/>
            <p:cNvSpPr/>
            <p:nvPr/>
          </p:nvSpPr>
          <p:spPr>
            <a:xfrm>
              <a:off x="786384" y="4535424"/>
              <a:ext cx="621792" cy="621792"/>
            </a:xfrm>
            <a:prstGeom prst="ellipse">
              <a:avLst/>
            </a:prstGeom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5400000" scaled="0"/>
            </a:gradFill>
            <a:ln w="31750" cap="rnd">
              <a:solidFill>
                <a:srgbClr val="160F1C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 mar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i="0" dirty="0">
                  <a:solidFill>
                    <a:srgbClr val="160F1C"/>
                  </a:solidFill>
                  <a:latin typeface="Cambria"/>
                  <a:ea typeface="Cambria"/>
                  <a:cs typeface="Cambria"/>
                </a:rPr>
                <a:t>1</a:t>
              </a:r>
              <a:endParaRPr lang="en-IN" sz="2400" b="1" i="0" dirty="0">
                <a:solidFill>
                  <a:srgbClr val="160F1C"/>
                </a:solidFill>
                <a:latin typeface="Cambria"/>
                <a:ea typeface="Cambria"/>
                <a:cs typeface="Cambria"/>
              </a:endParaRPr>
            </a:p>
          </p:txBody>
        </p:sp>
      </p:grpSp>
      <p:grpSp>
        <p:nvGrpSpPr>
          <p:cNvPr id="23" name="Step 2 marker"/>
          <p:cNvGrpSpPr/>
          <p:nvPr/>
        </p:nvGrpSpPr>
        <p:grpSpPr>
          <a:xfrm>
            <a:off x="2807208" y="3584448"/>
            <a:ext cx="1243584" cy="1243584"/>
            <a:chOff x="2807208" y="3584448"/>
            <a:chExt cx="1243584" cy="1243584"/>
          </a:xfrm>
        </p:grpSpPr>
        <p:sp>
          <p:nvSpPr>
            <p:cNvPr id="21" name="Node 2 halo"/>
            <p:cNvSpPr/>
            <p:nvPr/>
          </p:nvSpPr>
          <p:spPr>
            <a:xfrm>
              <a:off x="2807208" y="3584448"/>
              <a:ext cx="1243584" cy="1243584"/>
            </a:xfrm>
            <a:prstGeom prst="ellipse">
              <a:avLst/>
            </a:prstGeom>
            <a:gradFill rotWithShape="1">
              <a:gsLst>
                <a:gs pos="0">
                  <a:srgbClr val="CBAE76">
                    <a:alpha val="4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22" name="Node 2"/>
            <p:cNvSpPr/>
            <p:nvPr/>
          </p:nvSpPr>
          <p:spPr>
            <a:xfrm>
              <a:off x="3118104" y="3895344"/>
              <a:ext cx="621792" cy="621792"/>
            </a:xfrm>
            <a:prstGeom prst="ellipse">
              <a:avLst/>
            </a:prstGeom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5400000" scaled="0"/>
            </a:gradFill>
            <a:ln w="31750" cap="rnd">
              <a:solidFill>
                <a:srgbClr val="160F1C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 mar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i="0" dirty="0">
                  <a:solidFill>
                    <a:srgbClr val="160F1C"/>
                  </a:solidFill>
                  <a:latin typeface="Cambria"/>
                  <a:ea typeface="Cambria"/>
                  <a:cs typeface="Cambria"/>
                </a:rPr>
                <a:t>2</a:t>
              </a:r>
              <a:endParaRPr lang="en-IN" sz="2400" b="1" i="0" dirty="0">
                <a:solidFill>
                  <a:srgbClr val="160F1C"/>
                </a:solidFill>
                <a:latin typeface="Cambria"/>
                <a:ea typeface="Cambria"/>
                <a:cs typeface="Cambria"/>
              </a:endParaRPr>
            </a:p>
          </p:txBody>
        </p:sp>
      </p:grpSp>
      <p:grpSp>
        <p:nvGrpSpPr>
          <p:cNvPr id="27" name="Step 3 marker"/>
          <p:cNvGrpSpPr/>
          <p:nvPr/>
        </p:nvGrpSpPr>
        <p:grpSpPr>
          <a:xfrm>
            <a:off x="5138928" y="2990088"/>
            <a:ext cx="1243584" cy="1243584"/>
            <a:chOff x="5138928" y="2990088"/>
            <a:chExt cx="1243584" cy="1243584"/>
          </a:xfrm>
        </p:grpSpPr>
        <p:sp>
          <p:nvSpPr>
            <p:cNvPr id="25" name="Node 3 halo"/>
            <p:cNvSpPr/>
            <p:nvPr/>
          </p:nvSpPr>
          <p:spPr>
            <a:xfrm>
              <a:off x="5138928" y="2990088"/>
              <a:ext cx="1243584" cy="1243584"/>
            </a:xfrm>
            <a:prstGeom prst="ellipse">
              <a:avLst/>
            </a:prstGeom>
            <a:gradFill rotWithShape="1">
              <a:gsLst>
                <a:gs pos="0">
                  <a:srgbClr val="CBAE76">
                    <a:alpha val="4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26" name="Node 3"/>
            <p:cNvSpPr/>
            <p:nvPr/>
          </p:nvSpPr>
          <p:spPr>
            <a:xfrm>
              <a:off x="5449824" y="3300984"/>
              <a:ext cx="621792" cy="621792"/>
            </a:xfrm>
            <a:prstGeom prst="ellipse">
              <a:avLst/>
            </a:prstGeom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5400000" scaled="0"/>
            </a:gradFill>
            <a:ln w="31750" cap="rnd">
              <a:solidFill>
                <a:srgbClr val="160F1C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 mar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i="0" dirty="0">
                  <a:solidFill>
                    <a:srgbClr val="160F1C"/>
                  </a:solidFill>
                  <a:latin typeface="Cambria"/>
                  <a:ea typeface="Cambria"/>
                  <a:cs typeface="Cambria"/>
                </a:rPr>
                <a:t>3</a:t>
              </a:r>
              <a:endParaRPr lang="en-IN" sz="2400" b="1" i="0" dirty="0">
                <a:solidFill>
                  <a:srgbClr val="160F1C"/>
                </a:solidFill>
                <a:latin typeface="Cambria"/>
                <a:ea typeface="Cambria"/>
                <a:cs typeface="Cambria"/>
              </a:endParaRPr>
            </a:p>
          </p:txBody>
        </p:sp>
      </p:grpSp>
      <p:grpSp>
        <p:nvGrpSpPr>
          <p:cNvPr id="31" name="Step 4 marker"/>
          <p:cNvGrpSpPr/>
          <p:nvPr/>
        </p:nvGrpSpPr>
        <p:grpSpPr>
          <a:xfrm>
            <a:off x="7470648" y="2350008"/>
            <a:ext cx="1243584" cy="1243584"/>
            <a:chOff x="7470648" y="2350008"/>
            <a:chExt cx="1243584" cy="1243584"/>
          </a:xfrm>
        </p:grpSpPr>
        <p:sp>
          <p:nvSpPr>
            <p:cNvPr id="29" name="Node 4 halo"/>
            <p:cNvSpPr/>
            <p:nvPr/>
          </p:nvSpPr>
          <p:spPr>
            <a:xfrm>
              <a:off x="7470648" y="2350008"/>
              <a:ext cx="1243584" cy="1243584"/>
            </a:xfrm>
            <a:prstGeom prst="ellipse">
              <a:avLst/>
            </a:prstGeom>
            <a:gradFill rotWithShape="1">
              <a:gsLst>
                <a:gs pos="0">
                  <a:srgbClr val="CBAE76">
                    <a:alpha val="4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0" name="Node 4"/>
            <p:cNvSpPr/>
            <p:nvPr/>
          </p:nvSpPr>
          <p:spPr>
            <a:xfrm>
              <a:off x="7781544" y="2660904"/>
              <a:ext cx="621792" cy="621792"/>
            </a:xfrm>
            <a:prstGeom prst="ellipse">
              <a:avLst/>
            </a:prstGeom>
            <a:gradFill rotWithShape="1">
              <a:gsLst>
                <a:gs pos="0">
                  <a:srgbClr val="F4E6C6"/>
                </a:gs>
                <a:gs pos="100000">
                  <a:srgbClr val="CBAE76"/>
                </a:gs>
              </a:gsLst>
              <a:lin ang="5400000" scaled="0"/>
            </a:gradFill>
            <a:ln w="31750" cap="rnd">
              <a:solidFill>
                <a:srgbClr val="160F1C"/>
              </a:solidFill>
              <a:round/>
            </a:ln>
          </p:spPr>
          <p:txBody>
            <a:bodyPr wrap="square" lIns="0" tIns="0" rIns="0" bIns="0" anchor="ctr" rtlCol="0">
              <a:noAutofit/>
            </a:bodyPr>
            <a:lstStyle/>
            <a:p>
              <a:pPr algn="ctr" mar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400" b="1" i="0" dirty="0">
                  <a:solidFill>
                    <a:srgbClr val="160F1C"/>
                  </a:solidFill>
                  <a:latin typeface="Cambria"/>
                  <a:ea typeface="Cambria"/>
                  <a:cs typeface="Cambria"/>
                </a:rPr>
                <a:t>4</a:t>
              </a:r>
              <a:endParaRPr lang="en-IN" sz="2400" b="1" i="0" dirty="0">
                <a:solidFill>
                  <a:srgbClr val="160F1C"/>
                </a:solidFill>
                <a:latin typeface="Cambria"/>
                <a:ea typeface="Cambria"/>
                <a:cs typeface="Cambria"/>
              </a:endParaRPr>
            </a:p>
          </p:txBody>
        </p:sp>
      </p:grpSp>
      <p:grpSp>
        <p:nvGrpSpPr>
          <p:cNvPr id="35" name="Step 5 marker"/>
          <p:cNvGrpSpPr/>
          <p:nvPr/>
        </p:nvGrpSpPr>
        <p:grpSpPr>
          <a:xfrm>
            <a:off x="9400032" y="1444752"/>
            <a:ext cx="1682496" cy="1682496"/>
            <a:chOff x="9400032" y="1444752"/>
            <a:chExt cx="1682496" cy="1682496"/>
          </a:xfrm>
        </p:grpSpPr>
        <p:sp>
          <p:nvSpPr>
            <p:cNvPr id="33" name="Node 5 halo"/>
            <p:cNvSpPr/>
            <p:nvPr/>
          </p:nvSpPr>
          <p:spPr>
            <a:xfrm>
              <a:off x="9400032" y="1444752"/>
              <a:ext cx="1682496" cy="1682496"/>
            </a:xfrm>
            <a:prstGeom prst="ellipse">
              <a:avLst/>
            </a:prstGeom>
            <a:gradFill rotWithShape="1">
              <a:gsLst>
                <a:gs pos="0">
                  <a:srgbClr val="CBAE76">
                    <a:alpha val="45000"/>
                  </a:srgbClr>
                </a:gs>
                <a:gs pos="70000">
                  <a:srgbClr val="CBAE76">
                    <a:alpha val="0"/>
                  </a:srgbClr>
                </a:gs>
                <a:gs pos="100000">
                  <a:srgbClr val="CBAE7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4" name="Node 5"/>
            <p:cNvSpPr/>
            <p:nvPr/>
          </p:nvSpPr>
          <p:spPr>
            <a:xfrm>
              <a:off x="9820656" y="1865376"/>
              <a:ext cx="841248" cy="841248"/>
            </a:xfrm>
            <a:prstGeom prst="star4">
              <a:avLst>
                <a:gd name="adj" fmla="val 22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BAE76"/>
                </a:gs>
              </a:gsLst>
              <a:lin ang="5400000" scaled="0"/>
            </a:gradFill>
            <a:ln>
              <a:noFill/>
            </a:ln>
          </p:spPr>
        </p:sp>
      </p:grpSp>
      <p:sp>
        <p:nvSpPr>
          <p:cNvPr id="20" name="Step 1 label"/>
          <p:cNvSpPr txBox="1"/>
          <p:nvPr/>
        </p:nvSpPr>
        <p:spPr>
          <a:xfrm>
            <a:off x="786384" y="5413248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Apply</a:t>
            </a:r>
            <a:endParaRPr lang="en-IN" sz="24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7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Tell us what you can do.</a:t>
            </a:r>
            <a:endParaRPr lang="en-IN" sz="17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Step 2 label"/>
          <p:cNvSpPr txBox="1"/>
          <p:nvPr/>
        </p:nvSpPr>
        <p:spPr>
          <a:xfrm>
            <a:off x="3118104" y="4773168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Shortlist</a:t>
            </a:r>
            <a:endParaRPr lang="en-IN" sz="24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7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Our team reviews applications.</a:t>
            </a:r>
            <a:endParaRPr lang="en-IN" sz="17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Step 3 label"/>
          <p:cNvSpPr txBox="1"/>
          <p:nvPr/>
        </p:nvSpPr>
        <p:spPr>
          <a:xfrm>
            <a:off x="5449824" y="4178808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Pitch</a:t>
            </a:r>
            <a:endParaRPr lang="en-IN" sz="24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7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Present live, then take the panel’s questions.</a:t>
            </a:r>
            <a:endParaRPr lang="en-IN" sz="17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tep 4 label"/>
          <p:cNvSpPr txBox="1"/>
          <p:nvPr/>
        </p:nvSpPr>
        <p:spPr>
          <a:xfrm>
            <a:off x="7781544" y="3538728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Recruiter Evaluation</a:t>
            </a:r>
            <a:endParaRPr lang="en-IN" sz="24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7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Each recruiter decides for themselves.</a:t>
            </a:r>
            <a:endParaRPr lang="en-IN" sz="17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Step 5 label"/>
          <p:cNvSpPr txBox="1"/>
          <p:nvPr/>
        </p:nvSpPr>
        <p:spPr>
          <a:xfrm>
            <a:off x="9802368" y="2852928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Potential Opportunity</a:t>
            </a:r>
            <a:endParaRPr lang="en-IN" sz="24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8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7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An internship or early-career role, possibly.</a:t>
            </a:r>
            <a:endParaRPr lang="en-IN" sz="17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Qualifier"/>
          <p:cNvSpPr txBox="1"/>
          <p:nvPr/>
        </p:nvSpPr>
        <p:spPr>
          <a:xfrm>
            <a:off x="5486400" y="5852160"/>
            <a:ext cx="6263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B7A9C4">
                    <a:alpha val="90000"/>
                  </a:srgbClr>
                </a:solidFill>
                <a:latin typeface="Calibri"/>
                <a:ea typeface="Calibri"/>
                <a:cs typeface="Calibri"/>
              </a:rPr>
              <a:t>Recruiters make their own selection decisions. No outcome is guaranteed.</a:t>
            </a:r>
            <a:endParaRPr lang="en-IN" sz="1500" b="0" i="0" dirty="0">
              <a:solidFill>
                <a:srgbClr val="B7A9C4">
                  <a:alpha val="90000"/>
                </a:srgb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>
    <mc:Choice Requires="p159">
      <p:transition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7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7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9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9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9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 animBg="1"/>
      <p:bldP spid="28" grpId="0" animBg="1"/>
      <p:bldP spid="32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F6F1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5486400" y="0"/>
            <a:ext cx="8229600" cy="5486400"/>
          </a:xfrm>
          <a:prstGeom prst="ellipse">
            <a:avLst/>
          </a:prstGeom>
          <a:gradFill rotWithShape="1">
            <a:gsLst>
              <a:gs pos="0">
                <a:srgbClr val="CBAE76">
                  <a:alpha val="18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-1828800" y="3200400"/>
            <a:ext cx="6400800" cy="4572000"/>
          </a:xfrm>
          <a:prstGeom prst="ellipse">
            <a:avLst/>
          </a:prstGeom>
          <a:gradFill rotWithShape="1">
            <a:gsLst>
              <a:gs pos="0">
                <a:srgbClr val="B7A9C4">
                  <a:alpha val="22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ib3"/>
          <p:cNvSpPr/>
          <p:nvPr/>
        </p:nvSpPr>
        <p:spPr>
          <a:xfrm>
            <a:off x="-1371600" y="6400800"/>
            <a:ext cx="14996160" cy="20116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EDE6DA"/>
              </a:gs>
              <a:gs pos="100000">
                <a:srgbClr val="E3DACB"/>
              </a:gs>
            </a:gsLst>
            <a:lin ang="5400000" scaled="0"/>
          </a:gradFill>
          <a:ln>
            <a:noFill/>
          </a:ln>
        </p:spPr>
      </p:sp>
      <p:sp>
        <p:nvSpPr>
          <p:cNvPr id="5" name="!!rib1"/>
          <p:cNvSpPr/>
          <p:nvPr/>
        </p:nvSpPr>
        <p:spPr>
          <a:xfrm flipH="1">
            <a:off x="-1371600" y="5120640"/>
            <a:ext cx="14996160" cy="3291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D9CFE3">
                  <a:alpha val="75000"/>
                </a:srgbClr>
              </a:gs>
              <a:gs pos="100000">
                <a:srgbClr val="B7A9C4">
                  <a:alpha val="60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" name="!!rib2"/>
          <p:cNvSpPr/>
          <p:nvPr/>
        </p:nvSpPr>
        <p:spPr>
          <a:xfrm flipH="1">
            <a:off x="-1371600" y="5486400"/>
            <a:ext cx="14996160" cy="30175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6E9CC">
                  <a:alpha val="90000"/>
                </a:srgbClr>
              </a:gs>
              <a:gs pos="50000">
                <a:srgbClr val="E3CFA8">
                  <a:alpha val="90000"/>
                </a:srgbClr>
              </a:gs>
              <a:gs pos="100000">
                <a:srgbClr val="CBAE76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Headline"/>
          <p:cNvSpPr>
            <a:spLocks noGrp="1"/>
          </p:cNvSpPr>
          <p:nvPr>
            <p:ph type="title"/>
          </p:nvPr>
        </p:nvSpPr>
        <p:spPr>
          <a:xfrm>
            <a:off x="822960" y="868680"/>
            <a:ext cx="530352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2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rPr>
              <a:t>More than</a:t>
            </a:r>
            <a:endParaRPr lang="en-IN" sz="5200" b="1" i="0" dirty="0">
              <a:solidFill>
                <a:srgbClr val="1C1820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2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rPr>
              <a:t>an </a:t>
            </a:r>
            <a:r>
              <a:rPr lang="en-IN" sz="5200" b="1" i="0" dirty="0">
                <a:solidFill>
                  <a:srgbClr val="7A5F2E"/>
                </a:solidFill>
                <a:latin typeface="Georgia"/>
                <a:ea typeface="Georgia"/>
                <a:cs typeface="Georgia"/>
              </a:rPr>
              <a:t>internship.</a:t>
            </a:r>
            <a:endParaRPr lang="en-IN" sz="5200" b="1" i="0" dirty="0">
              <a:solidFill>
                <a:srgbClr val="7A5F2E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8" name="Message"/>
          <p:cNvSpPr txBox="1"/>
          <p:nvPr/>
        </p:nvSpPr>
        <p:spPr>
          <a:xfrm>
            <a:off x="822960" y="3154680"/>
            <a:ext cx="448056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0" i="0" dirty="0">
                <a:solidFill>
                  <a:srgbClr val="3B3440"/>
                </a:solidFill>
                <a:latin typeface="Georgia"/>
                <a:ea typeface="Georgia"/>
                <a:cs typeface="Georgia"/>
              </a:rPr>
              <a:t>The point is to be seen, not just screened.</a:t>
            </a:r>
            <a:endParaRPr lang="en-IN" sz="2600" b="0" i="0" dirty="0">
              <a:solidFill>
                <a:srgbClr val="3B344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9" name="Qualifier"/>
          <p:cNvSpPr txBox="1"/>
          <p:nvPr/>
        </p:nvSpPr>
        <p:spPr>
          <a:xfrm>
            <a:off x="822960" y="47548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0" i="0" dirty="0">
                <a:solidFill>
                  <a:srgbClr val="5E5666"/>
                </a:solidFill>
                <a:latin typeface="Calibri"/>
                <a:ea typeface="Calibri"/>
                <a:cs typeface="Calibri"/>
              </a:rPr>
              <a:t>Experiences vary by candidate. Nothing here is guaranteed; recruiters make their own decisions.</a:t>
            </a:r>
            <a:endParaRPr lang="en-IN" sz="1500" b="0" i="0" dirty="0">
              <a:solidFill>
                <a:srgbClr val="5E5666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3" name="Benefit 1"/>
          <p:cNvGrpSpPr/>
          <p:nvPr/>
        </p:nvGrpSpPr>
        <p:grpSpPr>
          <a:xfrm>
            <a:off x="6172200" y="868680"/>
            <a:ext cx="5394960" cy="1005840"/>
            <a:chOff x="6172200" y="868680"/>
            <a:chExt cx="5394960" cy="1005840"/>
          </a:xfrm>
        </p:grpSpPr>
        <p:sp>
          <p:nvSpPr>
            <p:cNvPr id="10" name="Row 1 rule"/>
            <p:cNvSpPr/>
            <p:nvPr/>
          </p:nvSpPr>
          <p:spPr>
            <a:xfrm>
              <a:off x="6172200" y="868680"/>
              <a:ext cx="5349240" cy="12802"/>
            </a:xfrm>
            <a:prstGeom prst="rect">
              <a:avLst/>
            </a:prstGeom>
            <a:solidFill>
              <a:srgbClr val="1C1820">
                <a:alpha val="22000"/>
              </a:srgbClr>
            </a:solidFill>
            <a:ln>
              <a:noFill/>
            </a:ln>
          </p:spPr>
        </p:sp>
        <p:sp>
          <p:nvSpPr>
            <p:cNvPr id="11" name="Row 1 dot"/>
            <p:cNvSpPr/>
            <p:nvPr/>
          </p:nvSpPr>
          <p:spPr>
            <a:xfrm>
              <a:off x="6172200" y="1143000"/>
              <a:ext cx="155448" cy="155448"/>
            </a:xfrm>
            <a:prstGeom prst="ellipse">
              <a:avLst/>
            </a:prstGeom>
            <a:solidFill>
              <a:srgbClr val="CBAE76"/>
            </a:solidFill>
            <a:ln>
              <a:noFill/>
            </a:ln>
          </p:spPr>
        </p:sp>
        <p:sp>
          <p:nvSpPr>
            <p:cNvPr id="12" name="Row 1 text"/>
            <p:cNvSpPr txBox="1"/>
            <p:nvPr/>
          </p:nvSpPr>
          <p:spPr>
            <a:xfrm>
              <a:off x="6537960" y="978408"/>
              <a:ext cx="5029200" cy="8961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0" indent="0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000" b="1" i="0" dirty="0">
                  <a:solidFill>
                    <a:srgbClr val="1C1820"/>
                  </a:solidFill>
                  <a:latin typeface="Georgia"/>
                  <a:ea typeface="Georgia"/>
                  <a:cs typeface="Georgia"/>
                </a:rPr>
                <a:t>A stage</a:t>
              </a:r>
              <a:endParaRPr lang="en-IN" sz="30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endParaRPr>
            </a:p>
            <a:p>
              <a:pPr algn="l" marL="0" indent="0">
                <a:lnSpc>
                  <a:spcPct val="98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IN" sz="2100" b="0" i="0" dirty="0">
                  <a:solidFill>
                    <a:srgbClr val="4A4252"/>
                  </a:solidFill>
                  <a:latin typeface="Calibri"/>
                  <a:ea typeface="Calibri"/>
                  <a:cs typeface="Calibri"/>
                </a:rPr>
                <a:t>to show what you can do.</a:t>
              </a:r>
              <a:endParaRPr lang="en-IN" sz="2100" b="0" i="0" dirty="0">
                <a:solidFill>
                  <a:srgbClr val="4A4252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7" name="Benefit 2"/>
          <p:cNvGrpSpPr/>
          <p:nvPr/>
        </p:nvGrpSpPr>
        <p:grpSpPr>
          <a:xfrm>
            <a:off x="6172200" y="1892808"/>
            <a:ext cx="5394960" cy="1005840"/>
            <a:chOff x="6172200" y="1892808"/>
            <a:chExt cx="5394960" cy="1005840"/>
          </a:xfrm>
        </p:grpSpPr>
        <p:sp>
          <p:nvSpPr>
            <p:cNvPr id="14" name="Row 2 rule"/>
            <p:cNvSpPr/>
            <p:nvPr/>
          </p:nvSpPr>
          <p:spPr>
            <a:xfrm>
              <a:off x="6172200" y="1892808"/>
              <a:ext cx="5349240" cy="12802"/>
            </a:xfrm>
            <a:prstGeom prst="rect">
              <a:avLst/>
            </a:prstGeom>
            <a:solidFill>
              <a:srgbClr val="1C1820">
                <a:alpha val="22000"/>
              </a:srgbClr>
            </a:solidFill>
            <a:ln>
              <a:noFill/>
            </a:ln>
          </p:spPr>
        </p:sp>
        <p:sp>
          <p:nvSpPr>
            <p:cNvPr id="15" name="Row 2 dot"/>
            <p:cNvSpPr/>
            <p:nvPr/>
          </p:nvSpPr>
          <p:spPr>
            <a:xfrm>
              <a:off x="6172200" y="2167128"/>
              <a:ext cx="155448" cy="155448"/>
            </a:xfrm>
            <a:prstGeom prst="ellipse">
              <a:avLst/>
            </a:prstGeom>
            <a:solidFill>
              <a:srgbClr val="CBAE76"/>
            </a:solidFill>
            <a:ln>
              <a:noFill/>
            </a:ln>
          </p:spPr>
        </p:sp>
        <p:sp>
          <p:nvSpPr>
            <p:cNvPr id="16" name="Row 2 text"/>
            <p:cNvSpPr txBox="1"/>
            <p:nvPr/>
          </p:nvSpPr>
          <p:spPr>
            <a:xfrm>
              <a:off x="6537960" y="2002536"/>
              <a:ext cx="5029200" cy="8961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0" indent="0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000" b="1" i="0" dirty="0">
                  <a:solidFill>
                    <a:srgbClr val="1C1820"/>
                  </a:solidFill>
                  <a:latin typeface="Georgia"/>
                  <a:ea typeface="Georgia"/>
                  <a:cs typeface="Georgia"/>
                </a:rPr>
                <a:t>Recruiters</a:t>
              </a:r>
              <a:endParaRPr lang="en-IN" sz="30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endParaRPr>
            </a:p>
            <a:p>
              <a:pPr algn="l" marL="0" indent="0">
                <a:lnSpc>
                  <a:spcPct val="98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IN" sz="2100" b="0" i="0" dirty="0">
                  <a:solidFill>
                    <a:srgbClr val="4A4252"/>
                  </a:solidFill>
                  <a:latin typeface="Calibri"/>
                  <a:ea typeface="Calibri"/>
                  <a:cs typeface="Calibri"/>
                </a:rPr>
                <a:t>who see it first-hand.</a:t>
              </a:r>
              <a:endParaRPr lang="en-IN" sz="2100" b="0" i="0" dirty="0">
                <a:solidFill>
                  <a:srgbClr val="4A4252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1" name="Benefit 3"/>
          <p:cNvGrpSpPr/>
          <p:nvPr/>
        </p:nvGrpSpPr>
        <p:grpSpPr>
          <a:xfrm>
            <a:off x="6172200" y="2916936"/>
            <a:ext cx="5394960" cy="1005840"/>
            <a:chOff x="6172200" y="2916936"/>
            <a:chExt cx="5394960" cy="1005840"/>
          </a:xfrm>
        </p:grpSpPr>
        <p:sp>
          <p:nvSpPr>
            <p:cNvPr id="18" name="Row 3 rule"/>
            <p:cNvSpPr/>
            <p:nvPr/>
          </p:nvSpPr>
          <p:spPr>
            <a:xfrm>
              <a:off x="6172200" y="2916936"/>
              <a:ext cx="5349240" cy="12802"/>
            </a:xfrm>
            <a:prstGeom prst="rect">
              <a:avLst/>
            </a:prstGeom>
            <a:solidFill>
              <a:srgbClr val="1C1820">
                <a:alpha val="22000"/>
              </a:srgbClr>
            </a:solidFill>
            <a:ln>
              <a:noFill/>
            </a:ln>
          </p:spPr>
        </p:sp>
        <p:sp>
          <p:nvSpPr>
            <p:cNvPr id="19" name="Row 3 dot"/>
            <p:cNvSpPr/>
            <p:nvPr/>
          </p:nvSpPr>
          <p:spPr>
            <a:xfrm>
              <a:off x="6172200" y="3191256"/>
              <a:ext cx="155448" cy="155448"/>
            </a:xfrm>
            <a:prstGeom prst="ellipse">
              <a:avLst/>
            </a:prstGeom>
            <a:solidFill>
              <a:srgbClr val="CBAE76"/>
            </a:solidFill>
            <a:ln>
              <a:noFill/>
            </a:ln>
          </p:spPr>
        </p:sp>
        <p:sp>
          <p:nvSpPr>
            <p:cNvPr id="20" name="Row 3 text"/>
            <p:cNvSpPr txBox="1"/>
            <p:nvPr/>
          </p:nvSpPr>
          <p:spPr>
            <a:xfrm>
              <a:off x="6537960" y="3026664"/>
              <a:ext cx="5029200" cy="8961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0" indent="0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000" b="1" i="0" dirty="0">
                  <a:solidFill>
                    <a:srgbClr val="1C1820"/>
                  </a:solidFill>
                  <a:latin typeface="Georgia"/>
                  <a:ea typeface="Georgia"/>
                  <a:cs typeface="Georgia"/>
                </a:rPr>
                <a:t>Practice</a:t>
              </a:r>
              <a:endParaRPr lang="en-IN" sz="30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endParaRPr>
            </a:p>
            <a:p>
              <a:pPr algn="l" marL="0" indent="0">
                <a:lnSpc>
                  <a:spcPct val="98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IN" sz="2100" b="0" i="0" dirty="0">
                  <a:solidFill>
                    <a:srgbClr val="4A4252"/>
                  </a:solidFill>
                  <a:latin typeface="Calibri"/>
                  <a:ea typeface="Calibri"/>
                  <a:cs typeface="Calibri"/>
                </a:rPr>
                <a:t>presenting your ideas under real questions.</a:t>
              </a:r>
              <a:endParaRPr lang="en-IN" sz="2100" b="0" i="0" dirty="0">
                <a:solidFill>
                  <a:srgbClr val="4A4252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5" name="Benefit 4"/>
          <p:cNvGrpSpPr/>
          <p:nvPr/>
        </p:nvGrpSpPr>
        <p:grpSpPr>
          <a:xfrm>
            <a:off x="6172200" y="3941064"/>
            <a:ext cx="5394960" cy="1005840"/>
            <a:chOff x="6172200" y="3941064"/>
            <a:chExt cx="5394960" cy="1005840"/>
          </a:xfrm>
        </p:grpSpPr>
        <p:sp>
          <p:nvSpPr>
            <p:cNvPr id="22" name="Row 4 rule"/>
            <p:cNvSpPr/>
            <p:nvPr/>
          </p:nvSpPr>
          <p:spPr>
            <a:xfrm>
              <a:off x="6172200" y="3941064"/>
              <a:ext cx="5349240" cy="12802"/>
            </a:xfrm>
            <a:prstGeom prst="rect">
              <a:avLst/>
            </a:prstGeom>
            <a:solidFill>
              <a:srgbClr val="1C1820">
                <a:alpha val="22000"/>
              </a:srgbClr>
            </a:solidFill>
            <a:ln>
              <a:noFill/>
            </a:ln>
          </p:spPr>
        </p:sp>
        <p:sp>
          <p:nvSpPr>
            <p:cNvPr id="23" name="Row 4 dot"/>
            <p:cNvSpPr/>
            <p:nvPr/>
          </p:nvSpPr>
          <p:spPr>
            <a:xfrm>
              <a:off x="6172200" y="4215384"/>
              <a:ext cx="155448" cy="155448"/>
            </a:xfrm>
            <a:prstGeom prst="ellipse">
              <a:avLst/>
            </a:prstGeom>
            <a:solidFill>
              <a:srgbClr val="CBAE76"/>
            </a:solidFill>
            <a:ln>
              <a:noFill/>
            </a:ln>
          </p:spPr>
        </p:sp>
        <p:sp>
          <p:nvSpPr>
            <p:cNvPr id="24" name="Row 4 text"/>
            <p:cNvSpPr txBox="1"/>
            <p:nvPr/>
          </p:nvSpPr>
          <p:spPr>
            <a:xfrm>
              <a:off x="6537960" y="4050792"/>
              <a:ext cx="5029200" cy="8961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0" indent="0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000" b="1" i="0" dirty="0">
                  <a:solidFill>
                    <a:srgbClr val="1C1820"/>
                  </a:solidFill>
                  <a:latin typeface="Georgia"/>
                  <a:ea typeface="Georgia"/>
                  <a:cs typeface="Georgia"/>
                </a:rPr>
                <a:t>Feedback</a:t>
              </a:r>
              <a:endParaRPr lang="en-IN" sz="30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endParaRPr>
            </a:p>
            <a:p>
              <a:pPr algn="l" marL="0" indent="0">
                <a:lnSpc>
                  <a:spcPct val="98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IN" sz="2100" b="0" i="0" dirty="0">
                  <a:solidFill>
                    <a:srgbClr val="4A4252"/>
                  </a:solidFill>
                  <a:latin typeface="Calibri"/>
                  <a:ea typeface="Calibri"/>
                  <a:cs typeface="Calibri"/>
                </a:rPr>
                <a:t>and connections worth keeping.</a:t>
              </a:r>
              <a:endParaRPr lang="en-IN" sz="2100" b="0" i="0" dirty="0">
                <a:solidFill>
                  <a:srgbClr val="4A4252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Benefit 5"/>
          <p:cNvGrpSpPr/>
          <p:nvPr/>
        </p:nvGrpSpPr>
        <p:grpSpPr>
          <a:xfrm>
            <a:off x="6172200" y="4965192"/>
            <a:ext cx="5394960" cy="1005840"/>
            <a:chOff x="6172200" y="4965192"/>
            <a:chExt cx="5394960" cy="1005840"/>
          </a:xfrm>
        </p:grpSpPr>
        <p:sp>
          <p:nvSpPr>
            <p:cNvPr id="26" name="Row 5 rule"/>
            <p:cNvSpPr/>
            <p:nvPr/>
          </p:nvSpPr>
          <p:spPr>
            <a:xfrm>
              <a:off x="6172200" y="4965192"/>
              <a:ext cx="5349240" cy="12802"/>
            </a:xfrm>
            <a:prstGeom prst="rect">
              <a:avLst/>
            </a:prstGeom>
            <a:solidFill>
              <a:srgbClr val="1C1820">
                <a:alpha val="22000"/>
              </a:srgbClr>
            </a:solidFill>
            <a:ln>
              <a:noFill/>
            </a:ln>
          </p:spPr>
        </p:sp>
        <p:sp>
          <p:nvSpPr>
            <p:cNvPr id="27" name="Row 5 dot"/>
            <p:cNvSpPr/>
            <p:nvPr/>
          </p:nvSpPr>
          <p:spPr>
            <a:xfrm>
              <a:off x="6172200" y="5239512"/>
              <a:ext cx="155448" cy="155448"/>
            </a:xfrm>
            <a:prstGeom prst="ellipse">
              <a:avLst/>
            </a:prstGeom>
            <a:solidFill>
              <a:srgbClr val="CBAE76"/>
            </a:solidFill>
            <a:ln>
              <a:noFill/>
            </a:ln>
          </p:spPr>
        </p:sp>
        <p:sp>
          <p:nvSpPr>
            <p:cNvPr id="28" name="Row 5 text"/>
            <p:cNvSpPr txBox="1"/>
            <p:nvPr/>
          </p:nvSpPr>
          <p:spPr>
            <a:xfrm>
              <a:off x="6537960" y="5074920"/>
              <a:ext cx="5029200" cy="8961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rtlCol="0">
              <a:noAutofit/>
            </a:bodyPr>
            <a:lstStyle/>
            <a:p>
              <a:pPr algn="l" marL="0" indent="0">
                <a:lnSpc>
                  <a:spcPct val="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3000" b="1" i="0" dirty="0">
                  <a:solidFill>
                    <a:srgbClr val="1C1820"/>
                  </a:solidFill>
                  <a:latin typeface="Georgia"/>
                  <a:ea typeface="Georgia"/>
                  <a:cs typeface="Georgia"/>
                </a:rPr>
                <a:t>A possible path</a:t>
              </a:r>
              <a:endParaRPr lang="en-IN" sz="3000" b="1" i="0" dirty="0">
                <a:solidFill>
                  <a:srgbClr val="1C1820"/>
                </a:solidFill>
                <a:latin typeface="Georgia"/>
                <a:ea typeface="Georgia"/>
                <a:cs typeface="Georgia"/>
              </a:endParaRPr>
            </a:p>
            <a:p>
              <a:pPr algn="l" marL="0" indent="0">
                <a:lnSpc>
                  <a:spcPct val="98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IN" sz="2100" b="0" i="0" dirty="0">
                  <a:solidFill>
                    <a:srgbClr val="4A4252"/>
                  </a:solidFill>
                  <a:latin typeface="Calibri"/>
                  <a:ea typeface="Calibri"/>
                  <a:cs typeface="Calibri"/>
                </a:rPr>
                <a:t>to an internship or early-career role.</a:t>
              </a:r>
              <a:endParaRPr lang="en-IN" sz="2100" b="0" i="0" dirty="0">
                <a:solidFill>
                  <a:srgbClr val="4A4252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0" name="Closing rule"/>
          <p:cNvSpPr/>
          <p:nvPr/>
        </p:nvSpPr>
        <p:spPr>
          <a:xfrm>
            <a:off x="6172200" y="5989320"/>
            <a:ext cx="5349240" cy="12802"/>
          </a:xfrm>
          <a:prstGeom prst="rect">
            <a:avLst/>
          </a:prstGeom>
          <a:solidFill>
            <a:srgbClr val="1C1820">
              <a:alpha val="22000"/>
            </a:srgbClr>
          </a:solidFill>
          <a:ln>
            <a:noFill/>
          </a:ln>
        </p:spPr>
      </p:sp>
    </p:spTree>
  </p:cSld>
  <p:clrMapOvr>
    <a:masterClrMapping/>
  </p:clrMapOvr>
  <mc:AlternateContent>
    <mc:Choice Requires="p14">
      <p:transition spd="slow" p14:dur="14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85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8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4" fill="hold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85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8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4" fill="hold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85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4" fill="hold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85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8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4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85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8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-1005840" y="-274320"/>
            <a:ext cx="8229600" cy="7315200"/>
          </a:xfrm>
          <a:prstGeom prst="ellipse">
            <a:avLst/>
          </a:prstGeom>
          <a:gradFill rotWithShape="1">
            <a:gsLst>
              <a:gs pos="0">
                <a:srgbClr val="CBAE76">
                  <a:alpha val="26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6858000" y="2286000"/>
            <a:ext cx="7315200" cy="5486400"/>
          </a:xfrm>
          <a:prstGeom prst="ellipse">
            <a:avLst/>
          </a:prstGeom>
          <a:gradFill rotWithShape="1">
            <a:gsLst>
              <a:gs pos="0">
                <a:srgbClr val="B7A9C4">
                  <a:alpha val="14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ib3"/>
          <p:cNvSpPr/>
          <p:nvPr/>
        </p:nvSpPr>
        <p:spPr>
          <a:xfrm>
            <a:off x="-914400" y="5943600"/>
            <a:ext cx="14081760" cy="21945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2A1C33"/>
              </a:gs>
              <a:gs pos="100000">
                <a:srgbClr val="160F1C"/>
              </a:gs>
            </a:gsLst>
            <a:lin ang="5400000" scaled="0"/>
          </a:gradFill>
          <a:ln>
            <a:noFill/>
          </a:ln>
        </p:spPr>
      </p:sp>
      <p:sp>
        <p:nvSpPr>
          <p:cNvPr id="5" name="!!rib1"/>
          <p:cNvSpPr/>
          <p:nvPr/>
        </p:nvSpPr>
        <p:spPr>
          <a:xfrm>
            <a:off x="-914400" y="4892040"/>
            <a:ext cx="14081760" cy="3108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55000"/>
                </a:srgbClr>
              </a:gs>
              <a:gs pos="100000">
                <a:srgbClr val="3F2C4D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" name="!!rib2"/>
          <p:cNvSpPr/>
          <p:nvPr/>
        </p:nvSpPr>
        <p:spPr>
          <a:xfrm flipH="1">
            <a:off x="-914400" y="5257800"/>
            <a:ext cx="14081760" cy="28346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85000"/>
                </a:srgbClr>
              </a:gs>
              <a:gs pos="50000">
                <a:srgbClr val="CBAE76">
                  <a:alpha val="85000"/>
                </a:srgbClr>
              </a:gs>
              <a:gs pos="100000">
                <a:srgbClr val="8A6D3B">
                  <a:alpha val="7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Outer arch"/>
          <p:cNvSpPr/>
          <p:nvPr/>
        </p:nvSpPr>
        <p:spPr>
          <a:xfrm>
            <a:off x="676656" y="384048"/>
            <a:ext cx="4754880" cy="612648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 cap="rnd">
            <a:solidFill>
              <a:srgbClr val="CBAE76">
                <a:alpha val="40000"/>
              </a:srgbClr>
            </a:solidFill>
            <a:round/>
          </a:ln>
        </p:spPr>
      </p:sp>
      <p:pic>
        <p:nvPicPr>
          <p:cNvPr id="8" name="Emblem in arch" descr="The Believing Room emblem: a golden letter B with a microphone, a tie and a hand making a victory sign, on a purple stage"/>
          <p:cNvPicPr>
            <a:picLocks noChangeAspect="1"/>
          </p:cNvPicPr>
          <p:nvPr/>
        </p:nvPicPr>
        <p:blipFill>
          <a:blip r:embed="rId2"/>
          <a:srcRect l="8500" t="0" r="14499" b="0"/>
          <a:stretch>
            <a:fillRect/>
          </a:stretch>
        </p:blipFill>
        <p:spPr>
          <a:xfrm>
            <a:off x="896112" y="640080"/>
            <a:ext cx="4315968" cy="5577840"/>
          </a:xfrm>
          <a:prstGeom prst="round2SameRect">
            <a:avLst>
              <a:gd name="adj1" fmla="val 50000"/>
              <a:gd name="adj2" fmla="val 0"/>
            </a:avLst>
          </a:prstGeom>
          <a:ln w="22225" cap="rnd">
            <a:solidFill>
              <a:srgbClr val="CBAE76">
                <a:alpha val="90000"/>
              </a:srgbClr>
            </a:solidFill>
            <a:round/>
          </a:ln>
        </p:spPr>
      </p:pic>
      <p:sp>
        <p:nvSpPr>
          <p:cNvPr id="9" name="Eyebrow"/>
          <p:cNvSpPr txBox="1"/>
          <p:nvPr/>
        </p:nvSpPr>
        <p:spPr>
          <a:xfrm>
            <a:off x="6172200" y="100584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BIT NOIDA CAMPUS · WHERE WE STARTED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Headline"/>
          <p:cNvSpPr>
            <a:spLocks noGrp="1"/>
          </p:cNvSpPr>
          <p:nvPr>
            <p:ph type="title"/>
          </p:nvPr>
        </p:nvSpPr>
        <p:spPr>
          <a:xfrm>
            <a:off x="6172200" y="1508760"/>
            <a:ext cx="557784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It started with students like us.</a:t>
            </a:r>
            <a:endParaRPr lang="en-IN" sz="42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1" name="Second line"/>
          <p:cNvSpPr txBox="1"/>
          <p:nvPr/>
        </p:nvSpPr>
        <p:spPr>
          <a:xfrm>
            <a:off x="6172200" y="3611880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200" b="1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Now we’re building a stage for students like you.</a:t>
            </a:r>
            <a:endParaRPr lang="en-IN" sz="4200" b="1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</p:spTree>
  </p:cSld>
  <p:clrMapOvr>
    <a:masterClrMapping/>
  </p:clrMapOvr>
  <mc:AlternateContent>
    <mc:Choice Requires="p14">
      <p:transition spd="slow" p14:dur="16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9="http://schemas.microsoft.com/office/powerpoint/2015/09/main">
  <p:cSld>
    <p:bg>
      <p:bgPr>
        <a:solidFill>
          <a:srgbClr val="16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1"/>
          <p:cNvSpPr/>
          <p:nvPr/>
        </p:nvSpPr>
        <p:spPr>
          <a:xfrm>
            <a:off x="-914400" y="-731520"/>
            <a:ext cx="9144000" cy="7315200"/>
          </a:xfrm>
          <a:prstGeom prst="ellipse">
            <a:avLst/>
          </a:prstGeom>
          <a:gradFill rotWithShape="1">
            <a:gsLst>
              <a:gs pos="0">
                <a:srgbClr val="CBAE76">
                  <a:alpha val="22000"/>
                </a:srgbClr>
              </a:gs>
              <a:gs pos="70000">
                <a:srgbClr val="CBAE76">
                  <a:alpha val="0"/>
                </a:srgbClr>
              </a:gs>
              <a:gs pos="100000">
                <a:srgbClr val="CBAE76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!!glow2"/>
          <p:cNvSpPr/>
          <p:nvPr/>
        </p:nvSpPr>
        <p:spPr>
          <a:xfrm>
            <a:off x="6400800" y="91440"/>
            <a:ext cx="7315200" cy="6400800"/>
          </a:xfrm>
          <a:prstGeom prst="ellipse">
            <a:avLst/>
          </a:prstGeom>
          <a:gradFill rotWithShape="1">
            <a:gsLst>
              <a:gs pos="0">
                <a:srgbClr val="B7A9C4">
                  <a:alpha val="16000"/>
                </a:srgbClr>
              </a:gs>
              <a:gs pos="70000">
                <a:srgbClr val="B7A9C4">
                  <a:alpha val="0"/>
                </a:srgbClr>
              </a:gs>
              <a:gs pos="100000">
                <a:srgbClr val="B7A9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!!rib3"/>
          <p:cNvSpPr/>
          <p:nvPr/>
        </p:nvSpPr>
        <p:spPr>
          <a:xfrm>
            <a:off x="-914400" y="5989320"/>
            <a:ext cx="14081760" cy="21031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800"/>
                </a:moveTo>
                <a:cubicBezTo>
                  <a:pt x="300" y="560"/>
                  <a:pt x="620" y="560"/>
                  <a:pt x="1000" y="760"/>
                </a:cubicBezTo>
                <a:lnTo>
                  <a:pt x="1000" y="1000"/>
                </a:lnTo>
                <a:lnTo>
                  <a:pt x="0" y="1000"/>
                </a:lnTo>
                <a:close/>
              </a:path>
            </a:pathLst>
          </a:custGeom>
          <a:gradFill rotWithShape="1">
            <a:gsLst>
              <a:gs pos="0">
                <a:srgbClr val="2A1C33"/>
              </a:gs>
              <a:gs pos="100000">
                <a:srgbClr val="160F1C"/>
              </a:gs>
            </a:gsLst>
            <a:lin ang="5400000" scaled="0"/>
          </a:gradFill>
          <a:ln>
            <a:noFill/>
          </a:ln>
        </p:spPr>
      </p:sp>
      <p:sp>
        <p:nvSpPr>
          <p:cNvPr id="5" name="!!rib1"/>
          <p:cNvSpPr/>
          <p:nvPr/>
        </p:nvSpPr>
        <p:spPr>
          <a:xfrm>
            <a:off x="-914400" y="5029200"/>
            <a:ext cx="14081760" cy="292608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620"/>
                </a:moveTo>
                <a:cubicBezTo>
                  <a:pt x="220" y="200"/>
                  <a:pt x="520" y="160"/>
                  <a:pt x="1000" y="420"/>
                </a:cubicBezTo>
                <a:lnTo>
                  <a:pt x="1000" y="560"/>
                </a:lnTo>
                <a:cubicBezTo>
                  <a:pt x="560" y="330"/>
                  <a:pt x="260" y="380"/>
                  <a:pt x="0" y="760"/>
                </a:cubicBezTo>
                <a:close/>
              </a:path>
            </a:pathLst>
          </a:custGeom>
          <a:gradFill rotWithShape="1">
            <a:gsLst>
              <a:gs pos="0">
                <a:srgbClr val="8C7A9B">
                  <a:alpha val="55000"/>
                </a:srgbClr>
              </a:gs>
              <a:gs pos="100000">
                <a:srgbClr val="3F2C4D">
                  <a:alpha val="8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6" name="!!rib2"/>
          <p:cNvSpPr/>
          <p:nvPr/>
        </p:nvSpPr>
        <p:spPr>
          <a:xfrm flipH="1">
            <a:off x="-914400" y="5394960"/>
            <a:ext cx="14081760" cy="2743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700"/>
                </a:moveTo>
                <a:cubicBezTo>
                  <a:pt x="240" y="380"/>
                  <a:pt x="560" y="330"/>
                  <a:pt x="1000" y="560"/>
                </a:cubicBezTo>
                <a:lnTo>
                  <a:pt x="1000" y="640"/>
                </a:lnTo>
                <a:cubicBezTo>
                  <a:pt x="580" y="460"/>
                  <a:pt x="280" y="500"/>
                  <a:pt x="0" y="820"/>
                </a:cubicBezTo>
                <a:close/>
              </a:path>
            </a:pathLst>
          </a:custGeom>
          <a:gradFill rotWithShape="1">
            <a:gsLst>
              <a:gs pos="0">
                <a:srgbClr val="F4E6C6">
                  <a:alpha val="85000"/>
                </a:srgbClr>
              </a:gs>
              <a:gs pos="50000">
                <a:srgbClr val="CBAE76">
                  <a:alpha val="85000"/>
                </a:srgbClr>
              </a:gs>
              <a:gs pos="100000">
                <a:srgbClr val="8A6D3B">
                  <a:alpha val="7500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7" name="Emblem ring"/>
          <p:cNvSpPr/>
          <p:nvPr/>
        </p:nvSpPr>
        <p:spPr>
          <a:xfrm>
            <a:off x="804672" y="566928"/>
            <a:ext cx="1426464" cy="1426464"/>
          </a:xfrm>
          <a:prstGeom prst="ellipse">
            <a:avLst/>
          </a:prstGeom>
          <a:noFill/>
          <a:ln w="25400" cap="rnd">
            <a:solidFill>
              <a:srgbClr val="CBAE76">
                <a:alpha val="90000"/>
              </a:srgbClr>
            </a:solidFill>
            <a:round/>
          </a:ln>
        </p:spPr>
      </p:sp>
      <p:pic>
        <p:nvPicPr>
          <p:cNvPr id="8" name="Emblem" descr="The Believing Room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621792"/>
            <a:ext cx="1316736" cy="1316736"/>
          </a:xfrm>
          <a:prstGeom prst="ellipse">
            <a:avLst/>
          </a:prstGeom>
        </p:spPr>
      </p:pic>
      <p:sp>
        <p:nvSpPr>
          <p:cNvPr id="9" name="Wordmark"/>
          <p:cNvSpPr txBox="1"/>
          <p:nvPr/>
        </p:nvSpPr>
        <p:spPr>
          <a:xfrm>
            <a:off x="2468880" y="868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dirty="0" spc="5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THE BELIEVING ROOM</a:t>
            </a:r>
            <a:endParaRPr lang="en-IN" sz="2000" b="1" i="0" dirty="0" spc="5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Brand line"/>
          <p:cNvSpPr txBox="1"/>
          <p:nvPr/>
        </p:nvSpPr>
        <p:spPr>
          <a:xfrm>
            <a:off x="2468880" y="126187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Where Opportunity Meets Belief.</a:t>
            </a:r>
            <a:endParaRPr lang="en-IN" sz="18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Headline"/>
          <p:cNvSpPr>
            <a:spLocks noGrp="1"/>
          </p:cNvSpPr>
          <p:nvPr>
            <p:ph type="title"/>
          </p:nvPr>
        </p:nvSpPr>
        <p:spPr>
          <a:xfrm>
            <a:off x="822960" y="2103120"/>
            <a:ext cx="603504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Your story</a:t>
            </a:r>
            <a:endParaRPr lang="en-IN" sz="62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200" b="1" i="0" dirty="0">
                <a:solidFill>
                  <a:srgbClr val="F6F1E9"/>
                </a:solidFill>
                <a:latin typeface="Georgia"/>
                <a:ea typeface="Georgia"/>
                <a:cs typeface="Georgia"/>
              </a:rPr>
              <a:t>deserves an</a:t>
            </a:r>
            <a:endParaRPr lang="en-IN" sz="6200" b="1" i="0" dirty="0">
              <a:solidFill>
                <a:srgbClr val="F6F1E9"/>
              </a:solidFill>
              <a:latin typeface="Georgia"/>
              <a:ea typeface="Georgia"/>
              <a:cs typeface="Georgia"/>
            </a:endParaRP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200" b="1" i="0" dirty="0">
                <a:solidFill>
                  <a:srgbClr val="CBAE76"/>
                </a:solidFill>
                <a:latin typeface="Georgia"/>
                <a:ea typeface="Georgia"/>
                <a:cs typeface="Georgia"/>
              </a:rPr>
              <a:t>audience.</a:t>
            </a:r>
            <a:endParaRPr lang="en-IN" sz="6200" b="1" i="0" dirty="0">
              <a:solidFill>
                <a:srgbClr val="CBAE76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Call to action">
            <a:hlinkClick r:id="rId3"/>
          </p:cNvPr>
          <p:cNvSpPr/>
          <p:nvPr/>
        </p:nvSpPr>
        <p:spPr>
          <a:xfrm>
            <a:off x="822960" y="4983480"/>
            <a:ext cx="3749040" cy="8229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4E6C6"/>
              </a:gs>
              <a:gs pos="100000">
                <a:srgbClr val="CBAE76"/>
              </a:gs>
            </a:gsLst>
            <a:lin ang="5400000" scaled="0"/>
          </a:gradFill>
          <a:ln>
            <a:noFill/>
          </a:ln>
          <a:effectLst>
            <a:outerShdw blurRad="279400" dist="76200" dir="5400000" algn="ctr" rotWithShape="0">
              <a:srgbClr val="000000">
                <a:alpha val="45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dirty="0">
                <a:solidFill>
                  <a:srgbClr val="160F1C"/>
                </a:solidFill>
                <a:latin typeface="Georgia"/>
                <a:ea typeface="Georgia"/>
                <a:cs typeface="Georgia"/>
              </a:rPr>
              <a:t>Apply to pitch</a:t>
            </a:r>
            <a:endParaRPr lang="en-IN" sz="2800" b="1" i="0" dirty="0">
              <a:solidFill>
                <a:srgbClr val="160F1C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3" name="URL"/>
          <p:cNvSpPr txBox="1"/>
          <p:nvPr/>
        </p:nvSpPr>
        <p:spPr>
          <a:xfrm>
            <a:off x="822960" y="5989320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0" i="0" dirty="0">
                <a:solidFill>
                  <a:srgbClr val="E3CFA8"/>
                </a:solidFill>
                <a:latin typeface="Calibri"/>
                <a:ea typeface="Calibri"/>
                <a:cs typeface="Calibri"/>
                <a:hlinkClick r:id="rId3"/>
              </a:rPr>
              <a:t>thebelievingroom.com/register/candidate</a:t>
            </a:r>
            <a:endParaRPr lang="en-IN" sz="2200" b="0" i="0" dirty="0">
              <a:solidFill>
                <a:srgbClr val="E3CFA8"/>
              </a:solidFill>
              <a:latin typeface="Calibri"/>
              <a:ea typeface="Calibri"/>
              <a:cs typeface="Calibri"/>
              <a:hlinkClick r:id="rId3"/>
            </a:endParaRPr>
          </a:p>
        </p:txBody>
      </p:sp>
      <p:sp>
        <p:nvSpPr>
          <p:cNvPr id="14" name="Scan label"/>
          <p:cNvSpPr txBox="1"/>
          <p:nvPr/>
        </p:nvSpPr>
        <p:spPr>
          <a:xfrm>
            <a:off x="7360920" y="713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dirty="0" spc="300">
                <a:solidFill>
                  <a:srgbClr val="E3CFA8"/>
                </a:solidFill>
                <a:latin typeface="Calibri"/>
                <a:ea typeface="Calibri"/>
                <a:cs typeface="Calibri"/>
              </a:rPr>
              <a:t>SCAN TO APPLY</a:t>
            </a:r>
            <a:endParaRPr lang="en-IN" sz="1400" b="1" i="0" dirty="0" spc="300">
              <a:solidFill>
                <a:srgbClr val="E3CFA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QR card"/>
          <p:cNvSpPr/>
          <p:nvPr/>
        </p:nvSpPr>
        <p:spPr>
          <a:xfrm>
            <a:off x="7360920" y="1143000"/>
            <a:ext cx="4114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304800" dist="101600" dir="5400000" algn="ctr" rotWithShape="0">
              <a:srgbClr val="000000">
                <a:alpha val="50000"/>
              </a:srgbClr>
            </a:outerShdw>
            <a:glow rad="228600">
              <a:srgbClr val="CBAE76">
                <a:alpha val="35000"/>
              </a:srgbClr>
            </a:glow>
          </a:effectLst>
        </p:spPr>
      </p:sp>
      <p:sp>
        <p:nvSpPr>
          <p:cNvPr id="16" name="QR code" descr="QR code linking to https://www.thebelievingroom.com/register/candidate"/>
          <p:cNvSpPr/>
          <p:nvPr/>
        </p:nvSpPr>
        <p:spPr>
          <a:xfrm>
            <a:off x="7635240" y="1417320"/>
            <a:ext cx="3566160" cy="3566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0"/>
                </a:moveTo>
                <a:lnTo>
                  <a:pt x="189" y="0"/>
                </a:lnTo>
                <a:lnTo>
                  <a:pt x="189" y="27"/>
                </a:lnTo>
                <a:lnTo>
                  <a:pt x="0" y="27"/>
                </a:lnTo>
                <a:close/>
                <a:moveTo>
                  <a:pt x="243" y="0"/>
                </a:moveTo>
                <a:lnTo>
                  <a:pt x="270" y="0"/>
                </a:lnTo>
                <a:lnTo>
                  <a:pt x="270" y="27"/>
                </a:lnTo>
                <a:lnTo>
                  <a:pt x="243" y="27"/>
                </a:lnTo>
                <a:close/>
                <a:moveTo>
                  <a:pt x="297" y="0"/>
                </a:moveTo>
                <a:lnTo>
                  <a:pt x="405" y="0"/>
                </a:lnTo>
                <a:lnTo>
                  <a:pt x="405" y="27"/>
                </a:lnTo>
                <a:lnTo>
                  <a:pt x="297" y="27"/>
                </a:lnTo>
                <a:close/>
                <a:moveTo>
                  <a:pt x="459" y="0"/>
                </a:moveTo>
                <a:lnTo>
                  <a:pt x="486" y="0"/>
                </a:lnTo>
                <a:lnTo>
                  <a:pt x="486" y="27"/>
                </a:lnTo>
                <a:lnTo>
                  <a:pt x="459" y="27"/>
                </a:lnTo>
                <a:close/>
                <a:moveTo>
                  <a:pt x="540" y="0"/>
                </a:moveTo>
                <a:lnTo>
                  <a:pt x="621" y="0"/>
                </a:lnTo>
                <a:lnTo>
                  <a:pt x="621" y="27"/>
                </a:lnTo>
                <a:lnTo>
                  <a:pt x="540" y="27"/>
                </a:lnTo>
                <a:close/>
                <a:moveTo>
                  <a:pt x="648" y="0"/>
                </a:moveTo>
                <a:lnTo>
                  <a:pt x="675" y="0"/>
                </a:lnTo>
                <a:lnTo>
                  <a:pt x="675" y="27"/>
                </a:lnTo>
                <a:lnTo>
                  <a:pt x="648" y="27"/>
                </a:lnTo>
                <a:close/>
                <a:moveTo>
                  <a:pt x="702" y="0"/>
                </a:moveTo>
                <a:lnTo>
                  <a:pt x="783" y="0"/>
                </a:lnTo>
                <a:lnTo>
                  <a:pt x="783" y="27"/>
                </a:lnTo>
                <a:lnTo>
                  <a:pt x="702" y="27"/>
                </a:lnTo>
                <a:close/>
                <a:moveTo>
                  <a:pt x="810" y="0"/>
                </a:moveTo>
                <a:lnTo>
                  <a:pt x="1000" y="0"/>
                </a:lnTo>
                <a:lnTo>
                  <a:pt x="1000" y="27"/>
                </a:lnTo>
                <a:lnTo>
                  <a:pt x="810" y="27"/>
                </a:lnTo>
                <a:close/>
                <a:moveTo>
                  <a:pt x="0" y="27"/>
                </a:moveTo>
                <a:lnTo>
                  <a:pt x="27" y="27"/>
                </a:lnTo>
                <a:lnTo>
                  <a:pt x="27" y="54"/>
                </a:lnTo>
                <a:lnTo>
                  <a:pt x="0" y="54"/>
                </a:lnTo>
                <a:close/>
                <a:moveTo>
                  <a:pt x="162" y="27"/>
                </a:moveTo>
                <a:lnTo>
                  <a:pt x="189" y="27"/>
                </a:lnTo>
                <a:lnTo>
                  <a:pt x="189" y="54"/>
                </a:lnTo>
                <a:lnTo>
                  <a:pt x="162" y="54"/>
                </a:lnTo>
                <a:close/>
                <a:moveTo>
                  <a:pt x="351" y="27"/>
                </a:moveTo>
                <a:lnTo>
                  <a:pt x="405" y="27"/>
                </a:lnTo>
                <a:lnTo>
                  <a:pt x="405" y="54"/>
                </a:lnTo>
                <a:lnTo>
                  <a:pt x="351" y="54"/>
                </a:lnTo>
                <a:close/>
                <a:moveTo>
                  <a:pt x="432" y="27"/>
                </a:moveTo>
                <a:lnTo>
                  <a:pt x="486" y="27"/>
                </a:lnTo>
                <a:lnTo>
                  <a:pt x="486" y="54"/>
                </a:lnTo>
                <a:lnTo>
                  <a:pt x="432" y="54"/>
                </a:lnTo>
                <a:close/>
                <a:moveTo>
                  <a:pt x="567" y="27"/>
                </a:moveTo>
                <a:lnTo>
                  <a:pt x="621" y="27"/>
                </a:lnTo>
                <a:lnTo>
                  <a:pt x="621" y="54"/>
                </a:lnTo>
                <a:lnTo>
                  <a:pt x="567" y="54"/>
                </a:lnTo>
                <a:close/>
                <a:moveTo>
                  <a:pt x="675" y="27"/>
                </a:moveTo>
                <a:lnTo>
                  <a:pt x="729" y="27"/>
                </a:lnTo>
                <a:lnTo>
                  <a:pt x="729" y="54"/>
                </a:lnTo>
                <a:lnTo>
                  <a:pt x="675" y="54"/>
                </a:lnTo>
                <a:close/>
                <a:moveTo>
                  <a:pt x="756" y="27"/>
                </a:moveTo>
                <a:lnTo>
                  <a:pt x="783" y="27"/>
                </a:lnTo>
                <a:lnTo>
                  <a:pt x="783" y="54"/>
                </a:lnTo>
                <a:lnTo>
                  <a:pt x="756" y="54"/>
                </a:lnTo>
                <a:close/>
                <a:moveTo>
                  <a:pt x="810" y="27"/>
                </a:moveTo>
                <a:lnTo>
                  <a:pt x="837" y="27"/>
                </a:lnTo>
                <a:lnTo>
                  <a:pt x="837" y="54"/>
                </a:lnTo>
                <a:lnTo>
                  <a:pt x="810" y="54"/>
                </a:lnTo>
                <a:close/>
                <a:moveTo>
                  <a:pt x="972" y="27"/>
                </a:moveTo>
                <a:lnTo>
                  <a:pt x="1000" y="27"/>
                </a:lnTo>
                <a:lnTo>
                  <a:pt x="1000" y="54"/>
                </a:lnTo>
                <a:lnTo>
                  <a:pt x="972" y="54"/>
                </a:lnTo>
                <a:close/>
                <a:moveTo>
                  <a:pt x="0" y="54"/>
                </a:moveTo>
                <a:lnTo>
                  <a:pt x="27" y="54"/>
                </a:lnTo>
                <a:lnTo>
                  <a:pt x="27" y="81"/>
                </a:lnTo>
                <a:lnTo>
                  <a:pt x="0" y="81"/>
                </a:lnTo>
                <a:close/>
                <a:moveTo>
                  <a:pt x="54" y="54"/>
                </a:moveTo>
                <a:lnTo>
                  <a:pt x="135" y="54"/>
                </a:lnTo>
                <a:lnTo>
                  <a:pt x="135" y="81"/>
                </a:lnTo>
                <a:lnTo>
                  <a:pt x="54" y="81"/>
                </a:lnTo>
                <a:close/>
                <a:moveTo>
                  <a:pt x="162" y="54"/>
                </a:moveTo>
                <a:lnTo>
                  <a:pt x="189" y="54"/>
                </a:lnTo>
                <a:lnTo>
                  <a:pt x="189" y="81"/>
                </a:lnTo>
                <a:lnTo>
                  <a:pt x="162" y="81"/>
                </a:lnTo>
                <a:close/>
                <a:moveTo>
                  <a:pt x="216" y="54"/>
                </a:moveTo>
                <a:lnTo>
                  <a:pt x="243" y="54"/>
                </a:lnTo>
                <a:lnTo>
                  <a:pt x="243" y="81"/>
                </a:lnTo>
                <a:lnTo>
                  <a:pt x="216" y="81"/>
                </a:lnTo>
                <a:close/>
                <a:moveTo>
                  <a:pt x="270" y="54"/>
                </a:moveTo>
                <a:lnTo>
                  <a:pt x="324" y="54"/>
                </a:lnTo>
                <a:lnTo>
                  <a:pt x="324" y="81"/>
                </a:lnTo>
                <a:lnTo>
                  <a:pt x="270" y="81"/>
                </a:lnTo>
                <a:close/>
                <a:moveTo>
                  <a:pt x="351" y="54"/>
                </a:moveTo>
                <a:lnTo>
                  <a:pt x="405" y="54"/>
                </a:lnTo>
                <a:lnTo>
                  <a:pt x="405" y="81"/>
                </a:lnTo>
                <a:lnTo>
                  <a:pt x="351" y="81"/>
                </a:lnTo>
                <a:close/>
                <a:moveTo>
                  <a:pt x="432" y="54"/>
                </a:moveTo>
                <a:lnTo>
                  <a:pt x="513" y="54"/>
                </a:lnTo>
                <a:lnTo>
                  <a:pt x="513" y="81"/>
                </a:lnTo>
                <a:lnTo>
                  <a:pt x="432" y="81"/>
                </a:lnTo>
                <a:close/>
                <a:moveTo>
                  <a:pt x="540" y="54"/>
                </a:moveTo>
                <a:lnTo>
                  <a:pt x="648" y="54"/>
                </a:lnTo>
                <a:lnTo>
                  <a:pt x="648" y="81"/>
                </a:lnTo>
                <a:lnTo>
                  <a:pt x="540" y="81"/>
                </a:lnTo>
                <a:close/>
                <a:moveTo>
                  <a:pt x="702" y="54"/>
                </a:moveTo>
                <a:lnTo>
                  <a:pt x="783" y="54"/>
                </a:lnTo>
                <a:lnTo>
                  <a:pt x="783" y="81"/>
                </a:lnTo>
                <a:lnTo>
                  <a:pt x="702" y="81"/>
                </a:lnTo>
                <a:close/>
                <a:moveTo>
                  <a:pt x="810" y="54"/>
                </a:moveTo>
                <a:lnTo>
                  <a:pt x="837" y="54"/>
                </a:lnTo>
                <a:lnTo>
                  <a:pt x="837" y="81"/>
                </a:lnTo>
                <a:lnTo>
                  <a:pt x="810" y="81"/>
                </a:lnTo>
                <a:close/>
                <a:moveTo>
                  <a:pt x="864" y="54"/>
                </a:moveTo>
                <a:lnTo>
                  <a:pt x="945" y="54"/>
                </a:lnTo>
                <a:lnTo>
                  <a:pt x="945" y="81"/>
                </a:lnTo>
                <a:lnTo>
                  <a:pt x="864" y="81"/>
                </a:lnTo>
                <a:close/>
                <a:moveTo>
                  <a:pt x="972" y="54"/>
                </a:moveTo>
                <a:lnTo>
                  <a:pt x="1000" y="54"/>
                </a:lnTo>
                <a:lnTo>
                  <a:pt x="1000" y="81"/>
                </a:lnTo>
                <a:lnTo>
                  <a:pt x="972" y="81"/>
                </a:lnTo>
                <a:close/>
                <a:moveTo>
                  <a:pt x="0" y="81"/>
                </a:moveTo>
                <a:lnTo>
                  <a:pt x="27" y="81"/>
                </a:lnTo>
                <a:lnTo>
                  <a:pt x="27" y="108"/>
                </a:lnTo>
                <a:lnTo>
                  <a:pt x="0" y="108"/>
                </a:lnTo>
                <a:close/>
                <a:moveTo>
                  <a:pt x="54" y="81"/>
                </a:moveTo>
                <a:lnTo>
                  <a:pt x="135" y="81"/>
                </a:lnTo>
                <a:lnTo>
                  <a:pt x="135" y="108"/>
                </a:lnTo>
                <a:lnTo>
                  <a:pt x="54" y="108"/>
                </a:lnTo>
                <a:close/>
                <a:moveTo>
                  <a:pt x="162" y="81"/>
                </a:moveTo>
                <a:lnTo>
                  <a:pt x="189" y="81"/>
                </a:lnTo>
                <a:lnTo>
                  <a:pt x="189" y="108"/>
                </a:lnTo>
                <a:lnTo>
                  <a:pt x="162" y="108"/>
                </a:lnTo>
                <a:close/>
                <a:moveTo>
                  <a:pt x="243" y="81"/>
                </a:moveTo>
                <a:lnTo>
                  <a:pt x="270" y="81"/>
                </a:lnTo>
                <a:lnTo>
                  <a:pt x="270" y="108"/>
                </a:lnTo>
                <a:lnTo>
                  <a:pt x="243" y="108"/>
                </a:lnTo>
                <a:close/>
                <a:moveTo>
                  <a:pt x="351" y="81"/>
                </a:moveTo>
                <a:lnTo>
                  <a:pt x="378" y="81"/>
                </a:lnTo>
                <a:lnTo>
                  <a:pt x="378" y="108"/>
                </a:lnTo>
                <a:lnTo>
                  <a:pt x="351" y="108"/>
                </a:lnTo>
                <a:close/>
                <a:moveTo>
                  <a:pt x="405" y="81"/>
                </a:moveTo>
                <a:lnTo>
                  <a:pt x="432" y="81"/>
                </a:lnTo>
                <a:lnTo>
                  <a:pt x="432" y="108"/>
                </a:lnTo>
                <a:lnTo>
                  <a:pt x="405" y="108"/>
                </a:lnTo>
                <a:close/>
                <a:moveTo>
                  <a:pt x="621" y="81"/>
                </a:moveTo>
                <a:lnTo>
                  <a:pt x="648" y="81"/>
                </a:lnTo>
                <a:lnTo>
                  <a:pt x="648" y="108"/>
                </a:lnTo>
                <a:lnTo>
                  <a:pt x="621" y="108"/>
                </a:lnTo>
                <a:close/>
                <a:moveTo>
                  <a:pt x="675" y="81"/>
                </a:moveTo>
                <a:lnTo>
                  <a:pt x="729" y="81"/>
                </a:lnTo>
                <a:lnTo>
                  <a:pt x="729" y="108"/>
                </a:lnTo>
                <a:lnTo>
                  <a:pt x="675" y="108"/>
                </a:lnTo>
                <a:close/>
                <a:moveTo>
                  <a:pt x="756" y="81"/>
                </a:moveTo>
                <a:lnTo>
                  <a:pt x="783" y="81"/>
                </a:lnTo>
                <a:lnTo>
                  <a:pt x="783" y="108"/>
                </a:lnTo>
                <a:lnTo>
                  <a:pt x="756" y="108"/>
                </a:lnTo>
                <a:close/>
                <a:moveTo>
                  <a:pt x="810" y="81"/>
                </a:moveTo>
                <a:lnTo>
                  <a:pt x="837" y="81"/>
                </a:lnTo>
                <a:lnTo>
                  <a:pt x="837" y="108"/>
                </a:lnTo>
                <a:lnTo>
                  <a:pt x="810" y="108"/>
                </a:lnTo>
                <a:close/>
                <a:moveTo>
                  <a:pt x="864" y="81"/>
                </a:moveTo>
                <a:lnTo>
                  <a:pt x="945" y="81"/>
                </a:lnTo>
                <a:lnTo>
                  <a:pt x="945" y="108"/>
                </a:lnTo>
                <a:lnTo>
                  <a:pt x="864" y="108"/>
                </a:lnTo>
                <a:close/>
                <a:moveTo>
                  <a:pt x="972" y="81"/>
                </a:moveTo>
                <a:lnTo>
                  <a:pt x="1000" y="81"/>
                </a:lnTo>
                <a:lnTo>
                  <a:pt x="1000" y="108"/>
                </a:lnTo>
                <a:lnTo>
                  <a:pt x="972" y="108"/>
                </a:lnTo>
                <a:close/>
                <a:moveTo>
                  <a:pt x="0" y="108"/>
                </a:moveTo>
                <a:lnTo>
                  <a:pt x="27" y="108"/>
                </a:lnTo>
                <a:lnTo>
                  <a:pt x="27" y="135"/>
                </a:lnTo>
                <a:lnTo>
                  <a:pt x="0" y="135"/>
                </a:lnTo>
                <a:close/>
                <a:moveTo>
                  <a:pt x="54" y="108"/>
                </a:moveTo>
                <a:lnTo>
                  <a:pt x="135" y="108"/>
                </a:lnTo>
                <a:lnTo>
                  <a:pt x="135" y="135"/>
                </a:lnTo>
                <a:lnTo>
                  <a:pt x="54" y="135"/>
                </a:lnTo>
                <a:close/>
                <a:moveTo>
                  <a:pt x="162" y="108"/>
                </a:moveTo>
                <a:lnTo>
                  <a:pt x="189" y="108"/>
                </a:lnTo>
                <a:lnTo>
                  <a:pt x="189" y="135"/>
                </a:lnTo>
                <a:lnTo>
                  <a:pt x="162" y="135"/>
                </a:lnTo>
                <a:close/>
                <a:moveTo>
                  <a:pt x="216" y="108"/>
                </a:moveTo>
                <a:lnTo>
                  <a:pt x="270" y="108"/>
                </a:lnTo>
                <a:lnTo>
                  <a:pt x="270" y="135"/>
                </a:lnTo>
                <a:lnTo>
                  <a:pt x="216" y="135"/>
                </a:lnTo>
                <a:close/>
                <a:moveTo>
                  <a:pt x="297" y="108"/>
                </a:moveTo>
                <a:lnTo>
                  <a:pt x="378" y="108"/>
                </a:lnTo>
                <a:lnTo>
                  <a:pt x="378" y="135"/>
                </a:lnTo>
                <a:lnTo>
                  <a:pt x="297" y="135"/>
                </a:lnTo>
                <a:close/>
                <a:moveTo>
                  <a:pt x="432" y="108"/>
                </a:moveTo>
                <a:lnTo>
                  <a:pt x="459" y="108"/>
                </a:lnTo>
                <a:lnTo>
                  <a:pt x="459" y="135"/>
                </a:lnTo>
                <a:lnTo>
                  <a:pt x="432" y="135"/>
                </a:lnTo>
                <a:close/>
                <a:moveTo>
                  <a:pt x="513" y="108"/>
                </a:moveTo>
                <a:lnTo>
                  <a:pt x="702" y="108"/>
                </a:lnTo>
                <a:lnTo>
                  <a:pt x="702" y="135"/>
                </a:lnTo>
                <a:lnTo>
                  <a:pt x="513" y="135"/>
                </a:lnTo>
                <a:close/>
                <a:moveTo>
                  <a:pt x="729" y="108"/>
                </a:moveTo>
                <a:lnTo>
                  <a:pt x="756" y="108"/>
                </a:lnTo>
                <a:lnTo>
                  <a:pt x="756" y="135"/>
                </a:lnTo>
                <a:lnTo>
                  <a:pt x="729" y="135"/>
                </a:lnTo>
                <a:close/>
                <a:moveTo>
                  <a:pt x="810" y="108"/>
                </a:moveTo>
                <a:lnTo>
                  <a:pt x="837" y="108"/>
                </a:lnTo>
                <a:lnTo>
                  <a:pt x="837" y="135"/>
                </a:lnTo>
                <a:lnTo>
                  <a:pt x="810" y="135"/>
                </a:lnTo>
                <a:close/>
                <a:moveTo>
                  <a:pt x="864" y="108"/>
                </a:moveTo>
                <a:lnTo>
                  <a:pt x="945" y="108"/>
                </a:lnTo>
                <a:lnTo>
                  <a:pt x="945" y="135"/>
                </a:lnTo>
                <a:lnTo>
                  <a:pt x="864" y="135"/>
                </a:lnTo>
                <a:close/>
                <a:moveTo>
                  <a:pt x="972" y="108"/>
                </a:moveTo>
                <a:lnTo>
                  <a:pt x="1000" y="108"/>
                </a:lnTo>
                <a:lnTo>
                  <a:pt x="1000" y="135"/>
                </a:lnTo>
                <a:lnTo>
                  <a:pt x="972" y="135"/>
                </a:lnTo>
                <a:close/>
                <a:moveTo>
                  <a:pt x="0" y="135"/>
                </a:moveTo>
                <a:lnTo>
                  <a:pt x="27" y="135"/>
                </a:lnTo>
                <a:lnTo>
                  <a:pt x="27" y="162"/>
                </a:lnTo>
                <a:lnTo>
                  <a:pt x="0" y="162"/>
                </a:lnTo>
                <a:close/>
                <a:moveTo>
                  <a:pt x="162" y="135"/>
                </a:moveTo>
                <a:lnTo>
                  <a:pt x="189" y="135"/>
                </a:lnTo>
                <a:lnTo>
                  <a:pt x="189" y="162"/>
                </a:lnTo>
                <a:lnTo>
                  <a:pt x="162" y="162"/>
                </a:lnTo>
                <a:close/>
                <a:moveTo>
                  <a:pt x="216" y="135"/>
                </a:moveTo>
                <a:lnTo>
                  <a:pt x="243" y="135"/>
                </a:lnTo>
                <a:lnTo>
                  <a:pt x="243" y="162"/>
                </a:lnTo>
                <a:lnTo>
                  <a:pt x="216" y="162"/>
                </a:lnTo>
                <a:close/>
                <a:moveTo>
                  <a:pt x="270" y="135"/>
                </a:moveTo>
                <a:lnTo>
                  <a:pt x="351" y="135"/>
                </a:lnTo>
                <a:lnTo>
                  <a:pt x="351" y="162"/>
                </a:lnTo>
                <a:lnTo>
                  <a:pt x="270" y="162"/>
                </a:lnTo>
                <a:close/>
                <a:moveTo>
                  <a:pt x="378" y="135"/>
                </a:moveTo>
                <a:lnTo>
                  <a:pt x="405" y="135"/>
                </a:lnTo>
                <a:lnTo>
                  <a:pt x="405" y="162"/>
                </a:lnTo>
                <a:lnTo>
                  <a:pt x="378" y="162"/>
                </a:lnTo>
                <a:close/>
                <a:moveTo>
                  <a:pt x="432" y="135"/>
                </a:moveTo>
                <a:lnTo>
                  <a:pt x="513" y="135"/>
                </a:lnTo>
                <a:lnTo>
                  <a:pt x="513" y="162"/>
                </a:lnTo>
                <a:lnTo>
                  <a:pt x="432" y="162"/>
                </a:lnTo>
                <a:close/>
                <a:moveTo>
                  <a:pt x="567" y="135"/>
                </a:moveTo>
                <a:lnTo>
                  <a:pt x="621" y="135"/>
                </a:lnTo>
                <a:lnTo>
                  <a:pt x="621" y="162"/>
                </a:lnTo>
                <a:lnTo>
                  <a:pt x="567" y="162"/>
                </a:lnTo>
                <a:close/>
                <a:moveTo>
                  <a:pt x="648" y="135"/>
                </a:moveTo>
                <a:lnTo>
                  <a:pt x="729" y="135"/>
                </a:lnTo>
                <a:lnTo>
                  <a:pt x="729" y="162"/>
                </a:lnTo>
                <a:lnTo>
                  <a:pt x="648" y="162"/>
                </a:lnTo>
                <a:close/>
                <a:moveTo>
                  <a:pt x="756" y="135"/>
                </a:moveTo>
                <a:lnTo>
                  <a:pt x="783" y="135"/>
                </a:lnTo>
                <a:lnTo>
                  <a:pt x="783" y="162"/>
                </a:lnTo>
                <a:lnTo>
                  <a:pt x="756" y="162"/>
                </a:lnTo>
                <a:close/>
                <a:moveTo>
                  <a:pt x="810" y="135"/>
                </a:moveTo>
                <a:lnTo>
                  <a:pt x="837" y="135"/>
                </a:lnTo>
                <a:lnTo>
                  <a:pt x="837" y="162"/>
                </a:lnTo>
                <a:lnTo>
                  <a:pt x="810" y="162"/>
                </a:lnTo>
                <a:close/>
                <a:moveTo>
                  <a:pt x="972" y="135"/>
                </a:moveTo>
                <a:lnTo>
                  <a:pt x="1000" y="135"/>
                </a:lnTo>
                <a:lnTo>
                  <a:pt x="1000" y="162"/>
                </a:lnTo>
                <a:lnTo>
                  <a:pt x="972" y="162"/>
                </a:lnTo>
                <a:close/>
                <a:moveTo>
                  <a:pt x="0" y="162"/>
                </a:moveTo>
                <a:lnTo>
                  <a:pt x="189" y="162"/>
                </a:lnTo>
                <a:lnTo>
                  <a:pt x="189" y="189"/>
                </a:lnTo>
                <a:lnTo>
                  <a:pt x="0" y="189"/>
                </a:lnTo>
                <a:close/>
                <a:moveTo>
                  <a:pt x="216" y="162"/>
                </a:moveTo>
                <a:lnTo>
                  <a:pt x="243" y="162"/>
                </a:lnTo>
                <a:lnTo>
                  <a:pt x="243" y="189"/>
                </a:lnTo>
                <a:lnTo>
                  <a:pt x="216" y="189"/>
                </a:lnTo>
                <a:close/>
                <a:moveTo>
                  <a:pt x="270" y="162"/>
                </a:moveTo>
                <a:lnTo>
                  <a:pt x="297" y="162"/>
                </a:lnTo>
                <a:lnTo>
                  <a:pt x="297" y="189"/>
                </a:lnTo>
                <a:lnTo>
                  <a:pt x="270" y="189"/>
                </a:lnTo>
                <a:close/>
                <a:moveTo>
                  <a:pt x="324" y="162"/>
                </a:moveTo>
                <a:lnTo>
                  <a:pt x="351" y="162"/>
                </a:lnTo>
                <a:lnTo>
                  <a:pt x="351" y="189"/>
                </a:lnTo>
                <a:lnTo>
                  <a:pt x="324" y="189"/>
                </a:lnTo>
                <a:close/>
                <a:moveTo>
                  <a:pt x="378" y="162"/>
                </a:moveTo>
                <a:lnTo>
                  <a:pt x="405" y="162"/>
                </a:lnTo>
                <a:lnTo>
                  <a:pt x="405" y="189"/>
                </a:lnTo>
                <a:lnTo>
                  <a:pt x="378" y="189"/>
                </a:lnTo>
                <a:close/>
                <a:moveTo>
                  <a:pt x="432" y="162"/>
                </a:moveTo>
                <a:lnTo>
                  <a:pt x="459" y="162"/>
                </a:lnTo>
                <a:lnTo>
                  <a:pt x="459" y="189"/>
                </a:lnTo>
                <a:lnTo>
                  <a:pt x="432" y="189"/>
                </a:lnTo>
                <a:close/>
                <a:moveTo>
                  <a:pt x="486" y="162"/>
                </a:moveTo>
                <a:lnTo>
                  <a:pt x="513" y="162"/>
                </a:lnTo>
                <a:lnTo>
                  <a:pt x="513" y="189"/>
                </a:lnTo>
                <a:lnTo>
                  <a:pt x="486" y="189"/>
                </a:lnTo>
                <a:close/>
                <a:moveTo>
                  <a:pt x="540" y="162"/>
                </a:moveTo>
                <a:lnTo>
                  <a:pt x="567" y="162"/>
                </a:lnTo>
                <a:lnTo>
                  <a:pt x="567" y="189"/>
                </a:lnTo>
                <a:lnTo>
                  <a:pt x="540" y="189"/>
                </a:lnTo>
                <a:close/>
                <a:moveTo>
                  <a:pt x="594" y="162"/>
                </a:moveTo>
                <a:lnTo>
                  <a:pt x="621" y="162"/>
                </a:lnTo>
                <a:lnTo>
                  <a:pt x="621" y="189"/>
                </a:lnTo>
                <a:lnTo>
                  <a:pt x="594" y="189"/>
                </a:lnTo>
                <a:close/>
                <a:moveTo>
                  <a:pt x="648" y="162"/>
                </a:moveTo>
                <a:lnTo>
                  <a:pt x="675" y="162"/>
                </a:lnTo>
                <a:lnTo>
                  <a:pt x="675" y="189"/>
                </a:lnTo>
                <a:lnTo>
                  <a:pt x="648" y="189"/>
                </a:lnTo>
                <a:close/>
                <a:moveTo>
                  <a:pt x="702" y="162"/>
                </a:moveTo>
                <a:lnTo>
                  <a:pt x="729" y="162"/>
                </a:lnTo>
                <a:lnTo>
                  <a:pt x="729" y="189"/>
                </a:lnTo>
                <a:lnTo>
                  <a:pt x="702" y="189"/>
                </a:lnTo>
                <a:close/>
                <a:moveTo>
                  <a:pt x="756" y="162"/>
                </a:moveTo>
                <a:lnTo>
                  <a:pt x="783" y="162"/>
                </a:lnTo>
                <a:lnTo>
                  <a:pt x="783" y="189"/>
                </a:lnTo>
                <a:lnTo>
                  <a:pt x="756" y="189"/>
                </a:lnTo>
                <a:close/>
                <a:moveTo>
                  <a:pt x="810" y="162"/>
                </a:moveTo>
                <a:lnTo>
                  <a:pt x="1000" y="162"/>
                </a:lnTo>
                <a:lnTo>
                  <a:pt x="1000" y="189"/>
                </a:lnTo>
                <a:lnTo>
                  <a:pt x="810" y="189"/>
                </a:lnTo>
                <a:close/>
                <a:moveTo>
                  <a:pt x="324" y="189"/>
                </a:moveTo>
                <a:lnTo>
                  <a:pt x="351" y="189"/>
                </a:lnTo>
                <a:lnTo>
                  <a:pt x="351" y="216"/>
                </a:lnTo>
                <a:lnTo>
                  <a:pt x="324" y="216"/>
                </a:lnTo>
                <a:close/>
                <a:moveTo>
                  <a:pt x="432" y="189"/>
                </a:moveTo>
                <a:lnTo>
                  <a:pt x="459" y="189"/>
                </a:lnTo>
                <a:lnTo>
                  <a:pt x="459" y="216"/>
                </a:lnTo>
                <a:lnTo>
                  <a:pt x="432" y="216"/>
                </a:lnTo>
                <a:close/>
                <a:moveTo>
                  <a:pt x="486" y="189"/>
                </a:moveTo>
                <a:lnTo>
                  <a:pt x="513" y="189"/>
                </a:lnTo>
                <a:lnTo>
                  <a:pt x="513" y="216"/>
                </a:lnTo>
                <a:lnTo>
                  <a:pt x="486" y="216"/>
                </a:lnTo>
                <a:close/>
                <a:moveTo>
                  <a:pt x="567" y="189"/>
                </a:moveTo>
                <a:lnTo>
                  <a:pt x="594" y="189"/>
                </a:lnTo>
                <a:lnTo>
                  <a:pt x="594" y="216"/>
                </a:lnTo>
                <a:lnTo>
                  <a:pt x="567" y="216"/>
                </a:lnTo>
                <a:close/>
                <a:moveTo>
                  <a:pt x="702" y="189"/>
                </a:moveTo>
                <a:lnTo>
                  <a:pt x="729" y="189"/>
                </a:lnTo>
                <a:lnTo>
                  <a:pt x="729" y="216"/>
                </a:lnTo>
                <a:lnTo>
                  <a:pt x="702" y="216"/>
                </a:lnTo>
                <a:close/>
                <a:moveTo>
                  <a:pt x="27" y="216"/>
                </a:moveTo>
                <a:lnTo>
                  <a:pt x="54" y="216"/>
                </a:lnTo>
                <a:lnTo>
                  <a:pt x="54" y="243"/>
                </a:lnTo>
                <a:lnTo>
                  <a:pt x="27" y="243"/>
                </a:lnTo>
                <a:close/>
                <a:moveTo>
                  <a:pt x="108" y="216"/>
                </a:moveTo>
                <a:lnTo>
                  <a:pt x="135" y="216"/>
                </a:lnTo>
                <a:lnTo>
                  <a:pt x="135" y="243"/>
                </a:lnTo>
                <a:lnTo>
                  <a:pt x="108" y="243"/>
                </a:lnTo>
                <a:close/>
                <a:moveTo>
                  <a:pt x="162" y="216"/>
                </a:moveTo>
                <a:lnTo>
                  <a:pt x="189" y="216"/>
                </a:lnTo>
                <a:lnTo>
                  <a:pt x="189" y="243"/>
                </a:lnTo>
                <a:lnTo>
                  <a:pt x="162" y="243"/>
                </a:lnTo>
                <a:close/>
                <a:moveTo>
                  <a:pt x="216" y="216"/>
                </a:moveTo>
                <a:lnTo>
                  <a:pt x="270" y="216"/>
                </a:lnTo>
                <a:lnTo>
                  <a:pt x="270" y="243"/>
                </a:lnTo>
                <a:lnTo>
                  <a:pt x="216" y="243"/>
                </a:lnTo>
                <a:close/>
                <a:moveTo>
                  <a:pt x="351" y="216"/>
                </a:moveTo>
                <a:lnTo>
                  <a:pt x="378" y="216"/>
                </a:lnTo>
                <a:lnTo>
                  <a:pt x="378" y="243"/>
                </a:lnTo>
                <a:lnTo>
                  <a:pt x="351" y="243"/>
                </a:lnTo>
                <a:close/>
                <a:moveTo>
                  <a:pt x="432" y="216"/>
                </a:moveTo>
                <a:lnTo>
                  <a:pt x="486" y="216"/>
                </a:lnTo>
                <a:lnTo>
                  <a:pt x="486" y="243"/>
                </a:lnTo>
                <a:lnTo>
                  <a:pt x="432" y="243"/>
                </a:lnTo>
                <a:close/>
                <a:moveTo>
                  <a:pt x="540" y="216"/>
                </a:moveTo>
                <a:lnTo>
                  <a:pt x="621" y="216"/>
                </a:lnTo>
                <a:lnTo>
                  <a:pt x="621" y="243"/>
                </a:lnTo>
                <a:lnTo>
                  <a:pt x="540" y="243"/>
                </a:lnTo>
                <a:close/>
                <a:moveTo>
                  <a:pt x="648" y="216"/>
                </a:moveTo>
                <a:lnTo>
                  <a:pt x="756" y="216"/>
                </a:lnTo>
                <a:lnTo>
                  <a:pt x="756" y="243"/>
                </a:lnTo>
                <a:lnTo>
                  <a:pt x="648" y="243"/>
                </a:lnTo>
                <a:close/>
                <a:moveTo>
                  <a:pt x="783" y="216"/>
                </a:moveTo>
                <a:lnTo>
                  <a:pt x="810" y="216"/>
                </a:lnTo>
                <a:lnTo>
                  <a:pt x="810" y="243"/>
                </a:lnTo>
                <a:lnTo>
                  <a:pt x="783" y="243"/>
                </a:lnTo>
                <a:close/>
                <a:moveTo>
                  <a:pt x="837" y="216"/>
                </a:moveTo>
                <a:lnTo>
                  <a:pt x="891" y="216"/>
                </a:lnTo>
                <a:lnTo>
                  <a:pt x="891" y="243"/>
                </a:lnTo>
                <a:lnTo>
                  <a:pt x="837" y="243"/>
                </a:lnTo>
                <a:close/>
                <a:moveTo>
                  <a:pt x="918" y="216"/>
                </a:moveTo>
                <a:lnTo>
                  <a:pt x="945" y="216"/>
                </a:lnTo>
                <a:lnTo>
                  <a:pt x="945" y="243"/>
                </a:lnTo>
                <a:lnTo>
                  <a:pt x="918" y="243"/>
                </a:lnTo>
                <a:close/>
                <a:moveTo>
                  <a:pt x="27" y="243"/>
                </a:moveTo>
                <a:lnTo>
                  <a:pt x="108" y="243"/>
                </a:lnTo>
                <a:lnTo>
                  <a:pt x="108" y="270"/>
                </a:lnTo>
                <a:lnTo>
                  <a:pt x="27" y="270"/>
                </a:lnTo>
                <a:close/>
                <a:moveTo>
                  <a:pt x="243" y="243"/>
                </a:moveTo>
                <a:lnTo>
                  <a:pt x="324" y="243"/>
                </a:lnTo>
                <a:lnTo>
                  <a:pt x="324" y="270"/>
                </a:lnTo>
                <a:lnTo>
                  <a:pt x="243" y="270"/>
                </a:lnTo>
                <a:close/>
                <a:moveTo>
                  <a:pt x="405" y="243"/>
                </a:moveTo>
                <a:lnTo>
                  <a:pt x="432" y="243"/>
                </a:lnTo>
                <a:lnTo>
                  <a:pt x="432" y="270"/>
                </a:lnTo>
                <a:lnTo>
                  <a:pt x="405" y="270"/>
                </a:lnTo>
                <a:close/>
                <a:moveTo>
                  <a:pt x="486" y="243"/>
                </a:moveTo>
                <a:lnTo>
                  <a:pt x="594" y="243"/>
                </a:lnTo>
                <a:lnTo>
                  <a:pt x="594" y="270"/>
                </a:lnTo>
                <a:lnTo>
                  <a:pt x="486" y="270"/>
                </a:lnTo>
                <a:close/>
                <a:moveTo>
                  <a:pt x="621" y="243"/>
                </a:moveTo>
                <a:lnTo>
                  <a:pt x="648" y="243"/>
                </a:lnTo>
                <a:lnTo>
                  <a:pt x="648" y="270"/>
                </a:lnTo>
                <a:lnTo>
                  <a:pt x="621" y="270"/>
                </a:lnTo>
                <a:close/>
                <a:moveTo>
                  <a:pt x="756" y="243"/>
                </a:moveTo>
                <a:lnTo>
                  <a:pt x="810" y="243"/>
                </a:lnTo>
                <a:lnTo>
                  <a:pt x="810" y="270"/>
                </a:lnTo>
                <a:lnTo>
                  <a:pt x="756" y="270"/>
                </a:lnTo>
                <a:close/>
                <a:moveTo>
                  <a:pt x="864" y="243"/>
                </a:moveTo>
                <a:lnTo>
                  <a:pt x="918" y="243"/>
                </a:lnTo>
                <a:lnTo>
                  <a:pt x="918" y="270"/>
                </a:lnTo>
                <a:lnTo>
                  <a:pt x="864" y="270"/>
                </a:lnTo>
                <a:close/>
                <a:moveTo>
                  <a:pt x="81" y="270"/>
                </a:moveTo>
                <a:lnTo>
                  <a:pt x="135" y="270"/>
                </a:lnTo>
                <a:lnTo>
                  <a:pt x="135" y="297"/>
                </a:lnTo>
                <a:lnTo>
                  <a:pt x="81" y="297"/>
                </a:lnTo>
                <a:close/>
                <a:moveTo>
                  <a:pt x="162" y="270"/>
                </a:moveTo>
                <a:lnTo>
                  <a:pt x="189" y="270"/>
                </a:lnTo>
                <a:lnTo>
                  <a:pt x="189" y="297"/>
                </a:lnTo>
                <a:lnTo>
                  <a:pt x="162" y="297"/>
                </a:lnTo>
                <a:close/>
                <a:moveTo>
                  <a:pt x="243" y="270"/>
                </a:moveTo>
                <a:lnTo>
                  <a:pt x="270" y="270"/>
                </a:lnTo>
                <a:lnTo>
                  <a:pt x="270" y="297"/>
                </a:lnTo>
                <a:lnTo>
                  <a:pt x="243" y="297"/>
                </a:lnTo>
                <a:close/>
                <a:moveTo>
                  <a:pt x="324" y="270"/>
                </a:moveTo>
                <a:lnTo>
                  <a:pt x="351" y="270"/>
                </a:lnTo>
                <a:lnTo>
                  <a:pt x="351" y="297"/>
                </a:lnTo>
                <a:lnTo>
                  <a:pt x="324" y="297"/>
                </a:lnTo>
                <a:close/>
                <a:moveTo>
                  <a:pt x="432" y="270"/>
                </a:moveTo>
                <a:lnTo>
                  <a:pt x="459" y="270"/>
                </a:lnTo>
                <a:lnTo>
                  <a:pt x="459" y="297"/>
                </a:lnTo>
                <a:lnTo>
                  <a:pt x="432" y="297"/>
                </a:lnTo>
                <a:close/>
                <a:moveTo>
                  <a:pt x="486" y="270"/>
                </a:moveTo>
                <a:lnTo>
                  <a:pt x="567" y="270"/>
                </a:lnTo>
                <a:lnTo>
                  <a:pt x="567" y="297"/>
                </a:lnTo>
                <a:lnTo>
                  <a:pt x="486" y="297"/>
                </a:lnTo>
                <a:close/>
                <a:moveTo>
                  <a:pt x="621" y="270"/>
                </a:moveTo>
                <a:lnTo>
                  <a:pt x="729" y="270"/>
                </a:lnTo>
                <a:lnTo>
                  <a:pt x="729" y="297"/>
                </a:lnTo>
                <a:lnTo>
                  <a:pt x="621" y="297"/>
                </a:lnTo>
                <a:close/>
                <a:moveTo>
                  <a:pt x="756" y="270"/>
                </a:moveTo>
                <a:lnTo>
                  <a:pt x="810" y="270"/>
                </a:lnTo>
                <a:lnTo>
                  <a:pt x="810" y="297"/>
                </a:lnTo>
                <a:lnTo>
                  <a:pt x="756" y="297"/>
                </a:lnTo>
                <a:close/>
                <a:moveTo>
                  <a:pt x="837" y="270"/>
                </a:moveTo>
                <a:lnTo>
                  <a:pt x="864" y="270"/>
                </a:lnTo>
                <a:lnTo>
                  <a:pt x="864" y="297"/>
                </a:lnTo>
                <a:lnTo>
                  <a:pt x="837" y="297"/>
                </a:lnTo>
                <a:close/>
                <a:moveTo>
                  <a:pt x="891" y="270"/>
                </a:moveTo>
                <a:lnTo>
                  <a:pt x="945" y="270"/>
                </a:lnTo>
                <a:lnTo>
                  <a:pt x="945" y="297"/>
                </a:lnTo>
                <a:lnTo>
                  <a:pt x="891" y="297"/>
                </a:lnTo>
                <a:close/>
                <a:moveTo>
                  <a:pt x="27" y="297"/>
                </a:moveTo>
                <a:lnTo>
                  <a:pt x="54" y="297"/>
                </a:lnTo>
                <a:lnTo>
                  <a:pt x="54" y="324"/>
                </a:lnTo>
                <a:lnTo>
                  <a:pt x="27" y="324"/>
                </a:lnTo>
                <a:close/>
                <a:moveTo>
                  <a:pt x="108" y="297"/>
                </a:moveTo>
                <a:lnTo>
                  <a:pt x="162" y="297"/>
                </a:lnTo>
                <a:lnTo>
                  <a:pt x="162" y="324"/>
                </a:lnTo>
                <a:lnTo>
                  <a:pt x="108" y="324"/>
                </a:lnTo>
                <a:close/>
                <a:moveTo>
                  <a:pt x="189" y="297"/>
                </a:moveTo>
                <a:lnTo>
                  <a:pt x="216" y="297"/>
                </a:lnTo>
                <a:lnTo>
                  <a:pt x="216" y="324"/>
                </a:lnTo>
                <a:lnTo>
                  <a:pt x="189" y="324"/>
                </a:lnTo>
                <a:close/>
                <a:moveTo>
                  <a:pt x="243" y="297"/>
                </a:moveTo>
                <a:lnTo>
                  <a:pt x="297" y="297"/>
                </a:lnTo>
                <a:lnTo>
                  <a:pt x="297" y="324"/>
                </a:lnTo>
                <a:lnTo>
                  <a:pt x="243" y="324"/>
                </a:lnTo>
                <a:close/>
                <a:moveTo>
                  <a:pt x="351" y="297"/>
                </a:moveTo>
                <a:lnTo>
                  <a:pt x="405" y="297"/>
                </a:lnTo>
                <a:lnTo>
                  <a:pt x="405" y="324"/>
                </a:lnTo>
                <a:lnTo>
                  <a:pt x="351" y="324"/>
                </a:lnTo>
                <a:close/>
                <a:moveTo>
                  <a:pt x="459" y="297"/>
                </a:moveTo>
                <a:lnTo>
                  <a:pt x="486" y="297"/>
                </a:lnTo>
                <a:lnTo>
                  <a:pt x="486" y="324"/>
                </a:lnTo>
                <a:lnTo>
                  <a:pt x="459" y="324"/>
                </a:lnTo>
                <a:close/>
                <a:moveTo>
                  <a:pt x="540" y="297"/>
                </a:moveTo>
                <a:lnTo>
                  <a:pt x="594" y="297"/>
                </a:lnTo>
                <a:lnTo>
                  <a:pt x="594" y="324"/>
                </a:lnTo>
                <a:lnTo>
                  <a:pt x="540" y="324"/>
                </a:lnTo>
                <a:close/>
                <a:moveTo>
                  <a:pt x="648" y="297"/>
                </a:moveTo>
                <a:lnTo>
                  <a:pt x="675" y="297"/>
                </a:lnTo>
                <a:lnTo>
                  <a:pt x="675" y="324"/>
                </a:lnTo>
                <a:lnTo>
                  <a:pt x="648" y="324"/>
                </a:lnTo>
                <a:close/>
                <a:moveTo>
                  <a:pt x="702" y="297"/>
                </a:moveTo>
                <a:lnTo>
                  <a:pt x="729" y="297"/>
                </a:lnTo>
                <a:lnTo>
                  <a:pt x="729" y="324"/>
                </a:lnTo>
                <a:lnTo>
                  <a:pt x="702" y="324"/>
                </a:lnTo>
                <a:close/>
                <a:moveTo>
                  <a:pt x="783" y="297"/>
                </a:moveTo>
                <a:lnTo>
                  <a:pt x="810" y="297"/>
                </a:lnTo>
                <a:lnTo>
                  <a:pt x="810" y="324"/>
                </a:lnTo>
                <a:lnTo>
                  <a:pt x="783" y="324"/>
                </a:lnTo>
                <a:close/>
                <a:moveTo>
                  <a:pt x="918" y="297"/>
                </a:moveTo>
                <a:lnTo>
                  <a:pt x="945" y="297"/>
                </a:lnTo>
                <a:lnTo>
                  <a:pt x="945" y="324"/>
                </a:lnTo>
                <a:lnTo>
                  <a:pt x="918" y="324"/>
                </a:lnTo>
                <a:close/>
                <a:moveTo>
                  <a:pt x="972" y="297"/>
                </a:moveTo>
                <a:lnTo>
                  <a:pt x="1000" y="297"/>
                </a:lnTo>
                <a:lnTo>
                  <a:pt x="1000" y="324"/>
                </a:lnTo>
                <a:lnTo>
                  <a:pt x="972" y="324"/>
                </a:lnTo>
                <a:close/>
                <a:moveTo>
                  <a:pt x="27" y="324"/>
                </a:moveTo>
                <a:lnTo>
                  <a:pt x="54" y="324"/>
                </a:lnTo>
                <a:lnTo>
                  <a:pt x="54" y="351"/>
                </a:lnTo>
                <a:lnTo>
                  <a:pt x="27" y="351"/>
                </a:lnTo>
                <a:close/>
                <a:moveTo>
                  <a:pt x="81" y="324"/>
                </a:moveTo>
                <a:lnTo>
                  <a:pt x="135" y="324"/>
                </a:lnTo>
                <a:lnTo>
                  <a:pt x="135" y="351"/>
                </a:lnTo>
                <a:lnTo>
                  <a:pt x="81" y="351"/>
                </a:lnTo>
                <a:close/>
                <a:moveTo>
                  <a:pt x="162" y="324"/>
                </a:moveTo>
                <a:lnTo>
                  <a:pt x="189" y="324"/>
                </a:lnTo>
                <a:lnTo>
                  <a:pt x="189" y="351"/>
                </a:lnTo>
                <a:lnTo>
                  <a:pt x="162" y="351"/>
                </a:lnTo>
                <a:close/>
                <a:moveTo>
                  <a:pt x="216" y="324"/>
                </a:moveTo>
                <a:lnTo>
                  <a:pt x="243" y="324"/>
                </a:lnTo>
                <a:lnTo>
                  <a:pt x="243" y="351"/>
                </a:lnTo>
                <a:lnTo>
                  <a:pt x="216" y="351"/>
                </a:lnTo>
                <a:close/>
                <a:moveTo>
                  <a:pt x="297" y="324"/>
                </a:moveTo>
                <a:lnTo>
                  <a:pt x="378" y="324"/>
                </a:lnTo>
                <a:lnTo>
                  <a:pt x="378" y="351"/>
                </a:lnTo>
                <a:lnTo>
                  <a:pt x="297" y="351"/>
                </a:lnTo>
                <a:close/>
                <a:moveTo>
                  <a:pt x="405" y="324"/>
                </a:moveTo>
                <a:lnTo>
                  <a:pt x="513" y="324"/>
                </a:lnTo>
                <a:lnTo>
                  <a:pt x="513" y="351"/>
                </a:lnTo>
                <a:lnTo>
                  <a:pt x="405" y="351"/>
                </a:lnTo>
                <a:close/>
                <a:moveTo>
                  <a:pt x="540" y="324"/>
                </a:moveTo>
                <a:lnTo>
                  <a:pt x="675" y="324"/>
                </a:lnTo>
                <a:lnTo>
                  <a:pt x="675" y="351"/>
                </a:lnTo>
                <a:lnTo>
                  <a:pt x="540" y="351"/>
                </a:lnTo>
                <a:close/>
                <a:moveTo>
                  <a:pt x="729" y="324"/>
                </a:moveTo>
                <a:lnTo>
                  <a:pt x="756" y="324"/>
                </a:lnTo>
                <a:lnTo>
                  <a:pt x="756" y="351"/>
                </a:lnTo>
                <a:lnTo>
                  <a:pt x="729" y="351"/>
                </a:lnTo>
                <a:close/>
                <a:moveTo>
                  <a:pt x="783" y="324"/>
                </a:moveTo>
                <a:lnTo>
                  <a:pt x="837" y="324"/>
                </a:lnTo>
                <a:lnTo>
                  <a:pt x="837" y="351"/>
                </a:lnTo>
                <a:lnTo>
                  <a:pt x="783" y="351"/>
                </a:lnTo>
                <a:close/>
                <a:moveTo>
                  <a:pt x="918" y="324"/>
                </a:moveTo>
                <a:lnTo>
                  <a:pt x="945" y="324"/>
                </a:lnTo>
                <a:lnTo>
                  <a:pt x="945" y="351"/>
                </a:lnTo>
                <a:lnTo>
                  <a:pt x="918" y="351"/>
                </a:lnTo>
                <a:close/>
                <a:moveTo>
                  <a:pt x="972" y="324"/>
                </a:moveTo>
                <a:lnTo>
                  <a:pt x="1000" y="324"/>
                </a:lnTo>
                <a:lnTo>
                  <a:pt x="1000" y="351"/>
                </a:lnTo>
                <a:lnTo>
                  <a:pt x="972" y="351"/>
                </a:lnTo>
                <a:close/>
                <a:moveTo>
                  <a:pt x="27" y="351"/>
                </a:moveTo>
                <a:lnTo>
                  <a:pt x="54" y="351"/>
                </a:lnTo>
                <a:lnTo>
                  <a:pt x="54" y="378"/>
                </a:lnTo>
                <a:lnTo>
                  <a:pt x="27" y="378"/>
                </a:lnTo>
                <a:close/>
                <a:moveTo>
                  <a:pt x="135" y="351"/>
                </a:moveTo>
                <a:lnTo>
                  <a:pt x="162" y="351"/>
                </a:lnTo>
                <a:lnTo>
                  <a:pt x="162" y="378"/>
                </a:lnTo>
                <a:lnTo>
                  <a:pt x="135" y="378"/>
                </a:lnTo>
                <a:close/>
                <a:moveTo>
                  <a:pt x="189" y="351"/>
                </a:moveTo>
                <a:lnTo>
                  <a:pt x="216" y="351"/>
                </a:lnTo>
                <a:lnTo>
                  <a:pt x="216" y="378"/>
                </a:lnTo>
                <a:lnTo>
                  <a:pt x="189" y="378"/>
                </a:lnTo>
                <a:close/>
                <a:moveTo>
                  <a:pt x="243" y="351"/>
                </a:moveTo>
                <a:lnTo>
                  <a:pt x="270" y="351"/>
                </a:lnTo>
                <a:lnTo>
                  <a:pt x="270" y="378"/>
                </a:lnTo>
                <a:lnTo>
                  <a:pt x="243" y="378"/>
                </a:lnTo>
                <a:close/>
                <a:moveTo>
                  <a:pt x="324" y="351"/>
                </a:moveTo>
                <a:lnTo>
                  <a:pt x="513" y="351"/>
                </a:lnTo>
                <a:lnTo>
                  <a:pt x="513" y="378"/>
                </a:lnTo>
                <a:lnTo>
                  <a:pt x="324" y="378"/>
                </a:lnTo>
                <a:close/>
                <a:moveTo>
                  <a:pt x="540" y="351"/>
                </a:moveTo>
                <a:lnTo>
                  <a:pt x="594" y="351"/>
                </a:lnTo>
                <a:lnTo>
                  <a:pt x="594" y="378"/>
                </a:lnTo>
                <a:lnTo>
                  <a:pt x="540" y="378"/>
                </a:lnTo>
                <a:close/>
                <a:moveTo>
                  <a:pt x="621" y="351"/>
                </a:moveTo>
                <a:lnTo>
                  <a:pt x="675" y="351"/>
                </a:lnTo>
                <a:lnTo>
                  <a:pt x="675" y="378"/>
                </a:lnTo>
                <a:lnTo>
                  <a:pt x="621" y="378"/>
                </a:lnTo>
                <a:close/>
                <a:moveTo>
                  <a:pt x="729" y="351"/>
                </a:moveTo>
                <a:lnTo>
                  <a:pt x="810" y="351"/>
                </a:lnTo>
                <a:lnTo>
                  <a:pt x="810" y="378"/>
                </a:lnTo>
                <a:lnTo>
                  <a:pt x="729" y="378"/>
                </a:lnTo>
                <a:close/>
                <a:moveTo>
                  <a:pt x="864" y="351"/>
                </a:moveTo>
                <a:lnTo>
                  <a:pt x="891" y="351"/>
                </a:lnTo>
                <a:lnTo>
                  <a:pt x="891" y="378"/>
                </a:lnTo>
                <a:lnTo>
                  <a:pt x="864" y="378"/>
                </a:lnTo>
                <a:close/>
                <a:moveTo>
                  <a:pt x="918" y="351"/>
                </a:moveTo>
                <a:lnTo>
                  <a:pt x="945" y="351"/>
                </a:lnTo>
                <a:lnTo>
                  <a:pt x="945" y="378"/>
                </a:lnTo>
                <a:lnTo>
                  <a:pt x="918" y="378"/>
                </a:lnTo>
                <a:close/>
                <a:moveTo>
                  <a:pt x="54" y="378"/>
                </a:moveTo>
                <a:lnTo>
                  <a:pt x="108" y="378"/>
                </a:lnTo>
                <a:lnTo>
                  <a:pt x="108" y="405"/>
                </a:lnTo>
                <a:lnTo>
                  <a:pt x="54" y="405"/>
                </a:lnTo>
                <a:close/>
                <a:moveTo>
                  <a:pt x="162" y="378"/>
                </a:moveTo>
                <a:lnTo>
                  <a:pt x="189" y="378"/>
                </a:lnTo>
                <a:lnTo>
                  <a:pt x="189" y="405"/>
                </a:lnTo>
                <a:lnTo>
                  <a:pt x="162" y="405"/>
                </a:lnTo>
                <a:close/>
                <a:moveTo>
                  <a:pt x="216" y="378"/>
                </a:moveTo>
                <a:lnTo>
                  <a:pt x="243" y="378"/>
                </a:lnTo>
                <a:lnTo>
                  <a:pt x="243" y="405"/>
                </a:lnTo>
                <a:lnTo>
                  <a:pt x="216" y="405"/>
                </a:lnTo>
                <a:close/>
                <a:moveTo>
                  <a:pt x="378" y="378"/>
                </a:moveTo>
                <a:lnTo>
                  <a:pt x="405" y="378"/>
                </a:lnTo>
                <a:lnTo>
                  <a:pt x="405" y="405"/>
                </a:lnTo>
                <a:lnTo>
                  <a:pt x="378" y="405"/>
                </a:lnTo>
                <a:close/>
                <a:moveTo>
                  <a:pt x="432" y="378"/>
                </a:moveTo>
                <a:lnTo>
                  <a:pt x="459" y="378"/>
                </a:lnTo>
                <a:lnTo>
                  <a:pt x="459" y="405"/>
                </a:lnTo>
                <a:lnTo>
                  <a:pt x="432" y="405"/>
                </a:lnTo>
                <a:close/>
                <a:moveTo>
                  <a:pt x="486" y="378"/>
                </a:moveTo>
                <a:lnTo>
                  <a:pt x="513" y="378"/>
                </a:lnTo>
                <a:lnTo>
                  <a:pt x="513" y="405"/>
                </a:lnTo>
                <a:lnTo>
                  <a:pt x="486" y="405"/>
                </a:lnTo>
                <a:close/>
                <a:moveTo>
                  <a:pt x="621" y="378"/>
                </a:moveTo>
                <a:lnTo>
                  <a:pt x="756" y="378"/>
                </a:lnTo>
                <a:lnTo>
                  <a:pt x="756" y="405"/>
                </a:lnTo>
                <a:lnTo>
                  <a:pt x="621" y="405"/>
                </a:lnTo>
                <a:close/>
                <a:moveTo>
                  <a:pt x="783" y="378"/>
                </a:moveTo>
                <a:lnTo>
                  <a:pt x="945" y="378"/>
                </a:lnTo>
                <a:lnTo>
                  <a:pt x="945" y="405"/>
                </a:lnTo>
                <a:lnTo>
                  <a:pt x="783" y="405"/>
                </a:lnTo>
                <a:close/>
                <a:moveTo>
                  <a:pt x="135" y="405"/>
                </a:moveTo>
                <a:lnTo>
                  <a:pt x="162" y="405"/>
                </a:lnTo>
                <a:lnTo>
                  <a:pt x="162" y="432"/>
                </a:lnTo>
                <a:lnTo>
                  <a:pt x="135" y="432"/>
                </a:lnTo>
                <a:close/>
                <a:moveTo>
                  <a:pt x="189" y="405"/>
                </a:moveTo>
                <a:lnTo>
                  <a:pt x="243" y="405"/>
                </a:lnTo>
                <a:lnTo>
                  <a:pt x="243" y="432"/>
                </a:lnTo>
                <a:lnTo>
                  <a:pt x="189" y="432"/>
                </a:lnTo>
                <a:close/>
                <a:moveTo>
                  <a:pt x="297" y="405"/>
                </a:moveTo>
                <a:lnTo>
                  <a:pt x="324" y="405"/>
                </a:lnTo>
                <a:lnTo>
                  <a:pt x="324" y="432"/>
                </a:lnTo>
                <a:lnTo>
                  <a:pt x="297" y="432"/>
                </a:lnTo>
                <a:close/>
                <a:moveTo>
                  <a:pt x="351" y="405"/>
                </a:moveTo>
                <a:lnTo>
                  <a:pt x="378" y="405"/>
                </a:lnTo>
                <a:lnTo>
                  <a:pt x="378" y="432"/>
                </a:lnTo>
                <a:lnTo>
                  <a:pt x="351" y="432"/>
                </a:lnTo>
                <a:close/>
                <a:moveTo>
                  <a:pt x="432" y="405"/>
                </a:moveTo>
                <a:lnTo>
                  <a:pt x="567" y="405"/>
                </a:lnTo>
                <a:lnTo>
                  <a:pt x="567" y="432"/>
                </a:lnTo>
                <a:lnTo>
                  <a:pt x="432" y="432"/>
                </a:lnTo>
                <a:close/>
                <a:moveTo>
                  <a:pt x="594" y="405"/>
                </a:moveTo>
                <a:lnTo>
                  <a:pt x="621" y="405"/>
                </a:lnTo>
                <a:lnTo>
                  <a:pt x="621" y="432"/>
                </a:lnTo>
                <a:lnTo>
                  <a:pt x="594" y="432"/>
                </a:lnTo>
                <a:close/>
                <a:moveTo>
                  <a:pt x="648" y="405"/>
                </a:moveTo>
                <a:lnTo>
                  <a:pt x="675" y="405"/>
                </a:lnTo>
                <a:lnTo>
                  <a:pt x="675" y="432"/>
                </a:lnTo>
                <a:lnTo>
                  <a:pt x="648" y="432"/>
                </a:lnTo>
                <a:close/>
                <a:moveTo>
                  <a:pt x="837" y="405"/>
                </a:moveTo>
                <a:lnTo>
                  <a:pt x="891" y="405"/>
                </a:lnTo>
                <a:lnTo>
                  <a:pt x="891" y="432"/>
                </a:lnTo>
                <a:lnTo>
                  <a:pt x="837" y="432"/>
                </a:lnTo>
                <a:close/>
                <a:moveTo>
                  <a:pt x="918" y="405"/>
                </a:moveTo>
                <a:lnTo>
                  <a:pt x="945" y="405"/>
                </a:lnTo>
                <a:lnTo>
                  <a:pt x="945" y="432"/>
                </a:lnTo>
                <a:lnTo>
                  <a:pt x="918" y="432"/>
                </a:lnTo>
                <a:close/>
                <a:moveTo>
                  <a:pt x="0" y="432"/>
                </a:moveTo>
                <a:lnTo>
                  <a:pt x="27" y="432"/>
                </a:lnTo>
                <a:lnTo>
                  <a:pt x="27" y="459"/>
                </a:lnTo>
                <a:lnTo>
                  <a:pt x="0" y="459"/>
                </a:lnTo>
                <a:close/>
                <a:moveTo>
                  <a:pt x="54" y="432"/>
                </a:moveTo>
                <a:lnTo>
                  <a:pt x="81" y="432"/>
                </a:lnTo>
                <a:lnTo>
                  <a:pt x="81" y="459"/>
                </a:lnTo>
                <a:lnTo>
                  <a:pt x="54" y="459"/>
                </a:lnTo>
                <a:close/>
                <a:moveTo>
                  <a:pt x="108" y="432"/>
                </a:moveTo>
                <a:lnTo>
                  <a:pt x="189" y="432"/>
                </a:lnTo>
                <a:lnTo>
                  <a:pt x="189" y="459"/>
                </a:lnTo>
                <a:lnTo>
                  <a:pt x="108" y="459"/>
                </a:lnTo>
                <a:close/>
                <a:moveTo>
                  <a:pt x="216" y="432"/>
                </a:moveTo>
                <a:lnTo>
                  <a:pt x="243" y="432"/>
                </a:lnTo>
                <a:lnTo>
                  <a:pt x="243" y="459"/>
                </a:lnTo>
                <a:lnTo>
                  <a:pt x="216" y="459"/>
                </a:lnTo>
                <a:close/>
                <a:moveTo>
                  <a:pt x="270" y="432"/>
                </a:moveTo>
                <a:lnTo>
                  <a:pt x="324" y="432"/>
                </a:lnTo>
                <a:lnTo>
                  <a:pt x="324" y="459"/>
                </a:lnTo>
                <a:lnTo>
                  <a:pt x="270" y="459"/>
                </a:lnTo>
                <a:close/>
                <a:moveTo>
                  <a:pt x="351" y="432"/>
                </a:moveTo>
                <a:lnTo>
                  <a:pt x="540" y="432"/>
                </a:lnTo>
                <a:lnTo>
                  <a:pt x="540" y="459"/>
                </a:lnTo>
                <a:lnTo>
                  <a:pt x="351" y="459"/>
                </a:lnTo>
                <a:close/>
                <a:moveTo>
                  <a:pt x="594" y="432"/>
                </a:moveTo>
                <a:lnTo>
                  <a:pt x="621" y="432"/>
                </a:lnTo>
                <a:lnTo>
                  <a:pt x="621" y="459"/>
                </a:lnTo>
                <a:lnTo>
                  <a:pt x="594" y="459"/>
                </a:lnTo>
                <a:close/>
                <a:moveTo>
                  <a:pt x="648" y="432"/>
                </a:moveTo>
                <a:lnTo>
                  <a:pt x="675" y="432"/>
                </a:lnTo>
                <a:lnTo>
                  <a:pt x="675" y="459"/>
                </a:lnTo>
                <a:lnTo>
                  <a:pt x="648" y="459"/>
                </a:lnTo>
                <a:close/>
                <a:moveTo>
                  <a:pt x="783" y="432"/>
                </a:moveTo>
                <a:lnTo>
                  <a:pt x="864" y="432"/>
                </a:lnTo>
                <a:lnTo>
                  <a:pt x="864" y="459"/>
                </a:lnTo>
                <a:lnTo>
                  <a:pt x="783" y="459"/>
                </a:lnTo>
                <a:close/>
                <a:moveTo>
                  <a:pt x="891" y="432"/>
                </a:moveTo>
                <a:lnTo>
                  <a:pt x="1000" y="432"/>
                </a:lnTo>
                <a:lnTo>
                  <a:pt x="1000" y="459"/>
                </a:lnTo>
                <a:lnTo>
                  <a:pt x="891" y="459"/>
                </a:lnTo>
                <a:close/>
                <a:moveTo>
                  <a:pt x="0" y="459"/>
                </a:moveTo>
                <a:lnTo>
                  <a:pt x="108" y="459"/>
                </a:lnTo>
                <a:lnTo>
                  <a:pt x="108" y="486"/>
                </a:lnTo>
                <a:lnTo>
                  <a:pt x="0" y="486"/>
                </a:lnTo>
                <a:close/>
                <a:moveTo>
                  <a:pt x="135" y="459"/>
                </a:moveTo>
                <a:lnTo>
                  <a:pt x="162" y="459"/>
                </a:lnTo>
                <a:lnTo>
                  <a:pt x="162" y="486"/>
                </a:lnTo>
                <a:lnTo>
                  <a:pt x="135" y="486"/>
                </a:lnTo>
                <a:close/>
                <a:moveTo>
                  <a:pt x="189" y="459"/>
                </a:moveTo>
                <a:lnTo>
                  <a:pt x="216" y="459"/>
                </a:lnTo>
                <a:lnTo>
                  <a:pt x="216" y="486"/>
                </a:lnTo>
                <a:lnTo>
                  <a:pt x="189" y="486"/>
                </a:lnTo>
                <a:close/>
                <a:moveTo>
                  <a:pt x="297" y="459"/>
                </a:moveTo>
                <a:lnTo>
                  <a:pt x="351" y="459"/>
                </a:lnTo>
                <a:lnTo>
                  <a:pt x="351" y="486"/>
                </a:lnTo>
                <a:lnTo>
                  <a:pt x="297" y="486"/>
                </a:lnTo>
                <a:close/>
                <a:moveTo>
                  <a:pt x="405" y="459"/>
                </a:moveTo>
                <a:lnTo>
                  <a:pt x="432" y="459"/>
                </a:lnTo>
                <a:lnTo>
                  <a:pt x="432" y="486"/>
                </a:lnTo>
                <a:lnTo>
                  <a:pt x="405" y="486"/>
                </a:lnTo>
                <a:close/>
                <a:moveTo>
                  <a:pt x="486" y="459"/>
                </a:moveTo>
                <a:lnTo>
                  <a:pt x="540" y="459"/>
                </a:lnTo>
                <a:lnTo>
                  <a:pt x="540" y="486"/>
                </a:lnTo>
                <a:lnTo>
                  <a:pt x="486" y="486"/>
                </a:lnTo>
                <a:close/>
                <a:moveTo>
                  <a:pt x="675" y="459"/>
                </a:moveTo>
                <a:lnTo>
                  <a:pt x="783" y="459"/>
                </a:lnTo>
                <a:lnTo>
                  <a:pt x="783" y="486"/>
                </a:lnTo>
                <a:lnTo>
                  <a:pt x="675" y="486"/>
                </a:lnTo>
                <a:close/>
                <a:moveTo>
                  <a:pt x="864" y="459"/>
                </a:moveTo>
                <a:lnTo>
                  <a:pt x="891" y="459"/>
                </a:lnTo>
                <a:lnTo>
                  <a:pt x="891" y="486"/>
                </a:lnTo>
                <a:lnTo>
                  <a:pt x="864" y="486"/>
                </a:lnTo>
                <a:close/>
                <a:moveTo>
                  <a:pt x="27" y="486"/>
                </a:moveTo>
                <a:lnTo>
                  <a:pt x="54" y="486"/>
                </a:lnTo>
                <a:lnTo>
                  <a:pt x="54" y="513"/>
                </a:lnTo>
                <a:lnTo>
                  <a:pt x="27" y="513"/>
                </a:lnTo>
                <a:close/>
                <a:moveTo>
                  <a:pt x="108" y="486"/>
                </a:moveTo>
                <a:lnTo>
                  <a:pt x="297" y="486"/>
                </a:lnTo>
                <a:lnTo>
                  <a:pt x="297" y="513"/>
                </a:lnTo>
                <a:lnTo>
                  <a:pt x="108" y="513"/>
                </a:lnTo>
                <a:close/>
                <a:moveTo>
                  <a:pt x="351" y="486"/>
                </a:moveTo>
                <a:lnTo>
                  <a:pt x="405" y="486"/>
                </a:lnTo>
                <a:lnTo>
                  <a:pt x="405" y="513"/>
                </a:lnTo>
                <a:lnTo>
                  <a:pt x="351" y="513"/>
                </a:lnTo>
                <a:close/>
                <a:moveTo>
                  <a:pt x="432" y="486"/>
                </a:moveTo>
                <a:lnTo>
                  <a:pt x="459" y="486"/>
                </a:lnTo>
                <a:lnTo>
                  <a:pt x="459" y="513"/>
                </a:lnTo>
                <a:lnTo>
                  <a:pt x="432" y="513"/>
                </a:lnTo>
                <a:close/>
                <a:moveTo>
                  <a:pt x="486" y="486"/>
                </a:moveTo>
                <a:lnTo>
                  <a:pt x="513" y="486"/>
                </a:lnTo>
                <a:lnTo>
                  <a:pt x="513" y="513"/>
                </a:lnTo>
                <a:lnTo>
                  <a:pt x="486" y="513"/>
                </a:lnTo>
                <a:close/>
                <a:moveTo>
                  <a:pt x="567" y="486"/>
                </a:moveTo>
                <a:lnTo>
                  <a:pt x="594" y="486"/>
                </a:lnTo>
                <a:lnTo>
                  <a:pt x="594" y="513"/>
                </a:lnTo>
                <a:lnTo>
                  <a:pt x="567" y="513"/>
                </a:lnTo>
                <a:close/>
                <a:moveTo>
                  <a:pt x="675" y="486"/>
                </a:moveTo>
                <a:lnTo>
                  <a:pt x="702" y="486"/>
                </a:lnTo>
                <a:lnTo>
                  <a:pt x="702" y="513"/>
                </a:lnTo>
                <a:lnTo>
                  <a:pt x="675" y="513"/>
                </a:lnTo>
                <a:close/>
                <a:moveTo>
                  <a:pt x="729" y="486"/>
                </a:moveTo>
                <a:lnTo>
                  <a:pt x="810" y="486"/>
                </a:lnTo>
                <a:lnTo>
                  <a:pt x="810" y="513"/>
                </a:lnTo>
                <a:lnTo>
                  <a:pt x="729" y="513"/>
                </a:lnTo>
                <a:close/>
                <a:moveTo>
                  <a:pt x="891" y="486"/>
                </a:moveTo>
                <a:lnTo>
                  <a:pt x="918" y="486"/>
                </a:lnTo>
                <a:lnTo>
                  <a:pt x="918" y="513"/>
                </a:lnTo>
                <a:lnTo>
                  <a:pt x="891" y="513"/>
                </a:lnTo>
                <a:close/>
                <a:moveTo>
                  <a:pt x="0" y="513"/>
                </a:moveTo>
                <a:lnTo>
                  <a:pt x="81" y="513"/>
                </a:lnTo>
                <a:lnTo>
                  <a:pt x="81" y="540"/>
                </a:lnTo>
                <a:lnTo>
                  <a:pt x="0" y="540"/>
                </a:lnTo>
                <a:close/>
                <a:moveTo>
                  <a:pt x="135" y="513"/>
                </a:moveTo>
                <a:lnTo>
                  <a:pt x="162" y="513"/>
                </a:lnTo>
                <a:lnTo>
                  <a:pt x="162" y="540"/>
                </a:lnTo>
                <a:lnTo>
                  <a:pt x="135" y="540"/>
                </a:lnTo>
                <a:close/>
                <a:moveTo>
                  <a:pt x="189" y="513"/>
                </a:moveTo>
                <a:lnTo>
                  <a:pt x="216" y="513"/>
                </a:lnTo>
                <a:lnTo>
                  <a:pt x="216" y="540"/>
                </a:lnTo>
                <a:lnTo>
                  <a:pt x="189" y="540"/>
                </a:lnTo>
                <a:close/>
                <a:moveTo>
                  <a:pt x="243" y="513"/>
                </a:moveTo>
                <a:lnTo>
                  <a:pt x="270" y="513"/>
                </a:lnTo>
                <a:lnTo>
                  <a:pt x="270" y="540"/>
                </a:lnTo>
                <a:lnTo>
                  <a:pt x="243" y="540"/>
                </a:lnTo>
                <a:close/>
                <a:moveTo>
                  <a:pt x="324" y="513"/>
                </a:moveTo>
                <a:lnTo>
                  <a:pt x="351" y="513"/>
                </a:lnTo>
                <a:lnTo>
                  <a:pt x="351" y="540"/>
                </a:lnTo>
                <a:lnTo>
                  <a:pt x="324" y="540"/>
                </a:lnTo>
                <a:close/>
                <a:moveTo>
                  <a:pt x="459" y="513"/>
                </a:moveTo>
                <a:lnTo>
                  <a:pt x="486" y="513"/>
                </a:lnTo>
                <a:lnTo>
                  <a:pt x="486" y="540"/>
                </a:lnTo>
                <a:lnTo>
                  <a:pt x="459" y="540"/>
                </a:lnTo>
                <a:close/>
                <a:moveTo>
                  <a:pt x="540" y="513"/>
                </a:moveTo>
                <a:lnTo>
                  <a:pt x="621" y="513"/>
                </a:lnTo>
                <a:lnTo>
                  <a:pt x="621" y="540"/>
                </a:lnTo>
                <a:lnTo>
                  <a:pt x="540" y="540"/>
                </a:lnTo>
                <a:close/>
                <a:moveTo>
                  <a:pt x="648" y="513"/>
                </a:moveTo>
                <a:lnTo>
                  <a:pt x="675" y="513"/>
                </a:lnTo>
                <a:lnTo>
                  <a:pt x="675" y="540"/>
                </a:lnTo>
                <a:lnTo>
                  <a:pt x="648" y="540"/>
                </a:lnTo>
                <a:close/>
                <a:moveTo>
                  <a:pt x="702" y="513"/>
                </a:moveTo>
                <a:lnTo>
                  <a:pt x="729" y="513"/>
                </a:lnTo>
                <a:lnTo>
                  <a:pt x="729" y="540"/>
                </a:lnTo>
                <a:lnTo>
                  <a:pt x="702" y="540"/>
                </a:lnTo>
                <a:close/>
                <a:moveTo>
                  <a:pt x="783" y="513"/>
                </a:moveTo>
                <a:lnTo>
                  <a:pt x="891" y="513"/>
                </a:lnTo>
                <a:lnTo>
                  <a:pt x="891" y="540"/>
                </a:lnTo>
                <a:lnTo>
                  <a:pt x="783" y="540"/>
                </a:lnTo>
                <a:close/>
                <a:moveTo>
                  <a:pt x="918" y="513"/>
                </a:moveTo>
                <a:lnTo>
                  <a:pt x="945" y="513"/>
                </a:lnTo>
                <a:lnTo>
                  <a:pt x="945" y="540"/>
                </a:lnTo>
                <a:lnTo>
                  <a:pt x="918" y="540"/>
                </a:lnTo>
                <a:close/>
                <a:moveTo>
                  <a:pt x="972" y="513"/>
                </a:moveTo>
                <a:lnTo>
                  <a:pt x="1000" y="513"/>
                </a:lnTo>
                <a:lnTo>
                  <a:pt x="1000" y="540"/>
                </a:lnTo>
                <a:lnTo>
                  <a:pt x="972" y="540"/>
                </a:lnTo>
                <a:close/>
                <a:moveTo>
                  <a:pt x="0" y="540"/>
                </a:moveTo>
                <a:lnTo>
                  <a:pt x="189" y="540"/>
                </a:lnTo>
                <a:lnTo>
                  <a:pt x="189" y="567"/>
                </a:lnTo>
                <a:lnTo>
                  <a:pt x="0" y="567"/>
                </a:lnTo>
                <a:close/>
                <a:moveTo>
                  <a:pt x="243" y="540"/>
                </a:moveTo>
                <a:lnTo>
                  <a:pt x="324" y="540"/>
                </a:lnTo>
                <a:lnTo>
                  <a:pt x="324" y="567"/>
                </a:lnTo>
                <a:lnTo>
                  <a:pt x="243" y="567"/>
                </a:lnTo>
                <a:close/>
                <a:moveTo>
                  <a:pt x="351" y="540"/>
                </a:moveTo>
                <a:lnTo>
                  <a:pt x="405" y="540"/>
                </a:lnTo>
                <a:lnTo>
                  <a:pt x="405" y="567"/>
                </a:lnTo>
                <a:lnTo>
                  <a:pt x="351" y="567"/>
                </a:lnTo>
                <a:close/>
                <a:moveTo>
                  <a:pt x="459" y="540"/>
                </a:moveTo>
                <a:lnTo>
                  <a:pt x="540" y="540"/>
                </a:lnTo>
                <a:lnTo>
                  <a:pt x="540" y="567"/>
                </a:lnTo>
                <a:lnTo>
                  <a:pt x="459" y="567"/>
                </a:lnTo>
                <a:close/>
                <a:moveTo>
                  <a:pt x="567" y="540"/>
                </a:moveTo>
                <a:lnTo>
                  <a:pt x="648" y="540"/>
                </a:lnTo>
                <a:lnTo>
                  <a:pt x="648" y="567"/>
                </a:lnTo>
                <a:lnTo>
                  <a:pt x="567" y="567"/>
                </a:lnTo>
                <a:close/>
                <a:moveTo>
                  <a:pt x="783" y="540"/>
                </a:moveTo>
                <a:lnTo>
                  <a:pt x="837" y="540"/>
                </a:lnTo>
                <a:lnTo>
                  <a:pt x="837" y="567"/>
                </a:lnTo>
                <a:lnTo>
                  <a:pt x="783" y="567"/>
                </a:lnTo>
                <a:close/>
                <a:moveTo>
                  <a:pt x="918" y="540"/>
                </a:moveTo>
                <a:lnTo>
                  <a:pt x="945" y="540"/>
                </a:lnTo>
                <a:lnTo>
                  <a:pt x="945" y="567"/>
                </a:lnTo>
                <a:lnTo>
                  <a:pt x="918" y="567"/>
                </a:lnTo>
                <a:close/>
                <a:moveTo>
                  <a:pt x="972" y="540"/>
                </a:moveTo>
                <a:lnTo>
                  <a:pt x="1000" y="540"/>
                </a:lnTo>
                <a:lnTo>
                  <a:pt x="1000" y="567"/>
                </a:lnTo>
                <a:lnTo>
                  <a:pt x="972" y="567"/>
                </a:lnTo>
                <a:close/>
                <a:moveTo>
                  <a:pt x="81" y="567"/>
                </a:moveTo>
                <a:lnTo>
                  <a:pt x="108" y="567"/>
                </a:lnTo>
                <a:lnTo>
                  <a:pt x="108" y="594"/>
                </a:lnTo>
                <a:lnTo>
                  <a:pt x="81" y="594"/>
                </a:lnTo>
                <a:close/>
                <a:moveTo>
                  <a:pt x="189" y="567"/>
                </a:moveTo>
                <a:lnTo>
                  <a:pt x="243" y="567"/>
                </a:lnTo>
                <a:lnTo>
                  <a:pt x="243" y="594"/>
                </a:lnTo>
                <a:lnTo>
                  <a:pt x="189" y="594"/>
                </a:lnTo>
                <a:close/>
                <a:moveTo>
                  <a:pt x="270" y="567"/>
                </a:moveTo>
                <a:lnTo>
                  <a:pt x="324" y="567"/>
                </a:lnTo>
                <a:lnTo>
                  <a:pt x="324" y="594"/>
                </a:lnTo>
                <a:lnTo>
                  <a:pt x="270" y="594"/>
                </a:lnTo>
                <a:close/>
                <a:moveTo>
                  <a:pt x="351" y="567"/>
                </a:moveTo>
                <a:lnTo>
                  <a:pt x="405" y="567"/>
                </a:lnTo>
                <a:lnTo>
                  <a:pt x="405" y="594"/>
                </a:lnTo>
                <a:lnTo>
                  <a:pt x="351" y="594"/>
                </a:lnTo>
                <a:close/>
                <a:moveTo>
                  <a:pt x="486" y="567"/>
                </a:moveTo>
                <a:lnTo>
                  <a:pt x="513" y="567"/>
                </a:lnTo>
                <a:lnTo>
                  <a:pt x="513" y="594"/>
                </a:lnTo>
                <a:lnTo>
                  <a:pt x="486" y="594"/>
                </a:lnTo>
                <a:close/>
                <a:moveTo>
                  <a:pt x="540" y="567"/>
                </a:moveTo>
                <a:lnTo>
                  <a:pt x="594" y="567"/>
                </a:lnTo>
                <a:lnTo>
                  <a:pt x="594" y="594"/>
                </a:lnTo>
                <a:lnTo>
                  <a:pt x="540" y="594"/>
                </a:lnTo>
                <a:close/>
                <a:moveTo>
                  <a:pt x="621" y="567"/>
                </a:moveTo>
                <a:lnTo>
                  <a:pt x="648" y="567"/>
                </a:lnTo>
                <a:lnTo>
                  <a:pt x="648" y="594"/>
                </a:lnTo>
                <a:lnTo>
                  <a:pt x="621" y="594"/>
                </a:lnTo>
                <a:close/>
                <a:moveTo>
                  <a:pt x="729" y="567"/>
                </a:moveTo>
                <a:lnTo>
                  <a:pt x="756" y="567"/>
                </a:lnTo>
                <a:lnTo>
                  <a:pt x="756" y="594"/>
                </a:lnTo>
                <a:lnTo>
                  <a:pt x="729" y="594"/>
                </a:lnTo>
                <a:close/>
                <a:moveTo>
                  <a:pt x="864" y="567"/>
                </a:moveTo>
                <a:lnTo>
                  <a:pt x="945" y="567"/>
                </a:lnTo>
                <a:lnTo>
                  <a:pt x="945" y="594"/>
                </a:lnTo>
                <a:lnTo>
                  <a:pt x="864" y="594"/>
                </a:lnTo>
                <a:close/>
                <a:moveTo>
                  <a:pt x="0" y="594"/>
                </a:moveTo>
                <a:lnTo>
                  <a:pt x="27" y="594"/>
                </a:lnTo>
                <a:lnTo>
                  <a:pt x="27" y="621"/>
                </a:lnTo>
                <a:lnTo>
                  <a:pt x="0" y="621"/>
                </a:lnTo>
                <a:close/>
                <a:moveTo>
                  <a:pt x="54" y="594"/>
                </a:moveTo>
                <a:lnTo>
                  <a:pt x="108" y="594"/>
                </a:lnTo>
                <a:lnTo>
                  <a:pt x="108" y="621"/>
                </a:lnTo>
                <a:lnTo>
                  <a:pt x="54" y="621"/>
                </a:lnTo>
                <a:close/>
                <a:moveTo>
                  <a:pt x="135" y="594"/>
                </a:moveTo>
                <a:lnTo>
                  <a:pt x="189" y="594"/>
                </a:lnTo>
                <a:lnTo>
                  <a:pt x="189" y="621"/>
                </a:lnTo>
                <a:lnTo>
                  <a:pt x="135" y="621"/>
                </a:lnTo>
                <a:close/>
                <a:moveTo>
                  <a:pt x="216" y="594"/>
                </a:moveTo>
                <a:lnTo>
                  <a:pt x="270" y="594"/>
                </a:lnTo>
                <a:lnTo>
                  <a:pt x="270" y="621"/>
                </a:lnTo>
                <a:lnTo>
                  <a:pt x="216" y="621"/>
                </a:lnTo>
                <a:close/>
                <a:moveTo>
                  <a:pt x="351" y="594"/>
                </a:moveTo>
                <a:lnTo>
                  <a:pt x="378" y="594"/>
                </a:lnTo>
                <a:lnTo>
                  <a:pt x="378" y="621"/>
                </a:lnTo>
                <a:lnTo>
                  <a:pt x="351" y="621"/>
                </a:lnTo>
                <a:close/>
                <a:moveTo>
                  <a:pt x="405" y="594"/>
                </a:moveTo>
                <a:lnTo>
                  <a:pt x="432" y="594"/>
                </a:lnTo>
                <a:lnTo>
                  <a:pt x="432" y="621"/>
                </a:lnTo>
                <a:lnTo>
                  <a:pt x="405" y="621"/>
                </a:lnTo>
                <a:close/>
                <a:moveTo>
                  <a:pt x="459" y="594"/>
                </a:moveTo>
                <a:lnTo>
                  <a:pt x="486" y="594"/>
                </a:lnTo>
                <a:lnTo>
                  <a:pt x="486" y="621"/>
                </a:lnTo>
                <a:lnTo>
                  <a:pt x="459" y="621"/>
                </a:lnTo>
                <a:close/>
                <a:moveTo>
                  <a:pt x="540" y="594"/>
                </a:moveTo>
                <a:lnTo>
                  <a:pt x="594" y="594"/>
                </a:lnTo>
                <a:lnTo>
                  <a:pt x="594" y="621"/>
                </a:lnTo>
                <a:lnTo>
                  <a:pt x="540" y="621"/>
                </a:lnTo>
                <a:close/>
                <a:moveTo>
                  <a:pt x="621" y="594"/>
                </a:moveTo>
                <a:lnTo>
                  <a:pt x="783" y="594"/>
                </a:lnTo>
                <a:lnTo>
                  <a:pt x="783" y="621"/>
                </a:lnTo>
                <a:lnTo>
                  <a:pt x="621" y="621"/>
                </a:lnTo>
                <a:close/>
                <a:moveTo>
                  <a:pt x="27" y="621"/>
                </a:moveTo>
                <a:lnTo>
                  <a:pt x="162" y="621"/>
                </a:lnTo>
                <a:lnTo>
                  <a:pt x="162" y="648"/>
                </a:lnTo>
                <a:lnTo>
                  <a:pt x="27" y="648"/>
                </a:lnTo>
                <a:close/>
                <a:moveTo>
                  <a:pt x="243" y="621"/>
                </a:moveTo>
                <a:lnTo>
                  <a:pt x="324" y="621"/>
                </a:lnTo>
                <a:lnTo>
                  <a:pt x="324" y="648"/>
                </a:lnTo>
                <a:lnTo>
                  <a:pt x="243" y="648"/>
                </a:lnTo>
                <a:close/>
                <a:moveTo>
                  <a:pt x="378" y="621"/>
                </a:moveTo>
                <a:lnTo>
                  <a:pt x="432" y="621"/>
                </a:lnTo>
                <a:lnTo>
                  <a:pt x="432" y="648"/>
                </a:lnTo>
                <a:lnTo>
                  <a:pt x="378" y="648"/>
                </a:lnTo>
                <a:close/>
                <a:moveTo>
                  <a:pt x="486" y="621"/>
                </a:moveTo>
                <a:lnTo>
                  <a:pt x="540" y="621"/>
                </a:lnTo>
                <a:lnTo>
                  <a:pt x="540" y="648"/>
                </a:lnTo>
                <a:lnTo>
                  <a:pt x="486" y="648"/>
                </a:lnTo>
                <a:close/>
                <a:moveTo>
                  <a:pt x="567" y="621"/>
                </a:moveTo>
                <a:lnTo>
                  <a:pt x="594" y="621"/>
                </a:lnTo>
                <a:lnTo>
                  <a:pt x="594" y="648"/>
                </a:lnTo>
                <a:lnTo>
                  <a:pt x="567" y="648"/>
                </a:lnTo>
                <a:close/>
                <a:moveTo>
                  <a:pt x="621" y="621"/>
                </a:moveTo>
                <a:lnTo>
                  <a:pt x="702" y="621"/>
                </a:lnTo>
                <a:lnTo>
                  <a:pt x="702" y="648"/>
                </a:lnTo>
                <a:lnTo>
                  <a:pt x="621" y="648"/>
                </a:lnTo>
                <a:close/>
                <a:moveTo>
                  <a:pt x="756" y="621"/>
                </a:moveTo>
                <a:lnTo>
                  <a:pt x="810" y="621"/>
                </a:lnTo>
                <a:lnTo>
                  <a:pt x="810" y="648"/>
                </a:lnTo>
                <a:lnTo>
                  <a:pt x="756" y="648"/>
                </a:lnTo>
                <a:close/>
                <a:moveTo>
                  <a:pt x="837" y="621"/>
                </a:moveTo>
                <a:lnTo>
                  <a:pt x="864" y="621"/>
                </a:lnTo>
                <a:lnTo>
                  <a:pt x="864" y="648"/>
                </a:lnTo>
                <a:lnTo>
                  <a:pt x="837" y="648"/>
                </a:lnTo>
                <a:close/>
                <a:moveTo>
                  <a:pt x="918" y="621"/>
                </a:moveTo>
                <a:lnTo>
                  <a:pt x="1000" y="621"/>
                </a:lnTo>
                <a:lnTo>
                  <a:pt x="1000" y="648"/>
                </a:lnTo>
                <a:lnTo>
                  <a:pt x="918" y="648"/>
                </a:lnTo>
                <a:close/>
                <a:moveTo>
                  <a:pt x="81" y="648"/>
                </a:moveTo>
                <a:lnTo>
                  <a:pt x="108" y="648"/>
                </a:lnTo>
                <a:lnTo>
                  <a:pt x="108" y="675"/>
                </a:lnTo>
                <a:lnTo>
                  <a:pt x="81" y="675"/>
                </a:lnTo>
                <a:close/>
                <a:moveTo>
                  <a:pt x="135" y="648"/>
                </a:moveTo>
                <a:lnTo>
                  <a:pt x="189" y="648"/>
                </a:lnTo>
                <a:lnTo>
                  <a:pt x="189" y="675"/>
                </a:lnTo>
                <a:lnTo>
                  <a:pt x="135" y="675"/>
                </a:lnTo>
                <a:close/>
                <a:moveTo>
                  <a:pt x="216" y="648"/>
                </a:moveTo>
                <a:lnTo>
                  <a:pt x="270" y="648"/>
                </a:lnTo>
                <a:lnTo>
                  <a:pt x="270" y="675"/>
                </a:lnTo>
                <a:lnTo>
                  <a:pt x="216" y="675"/>
                </a:lnTo>
                <a:close/>
                <a:moveTo>
                  <a:pt x="297" y="648"/>
                </a:moveTo>
                <a:lnTo>
                  <a:pt x="324" y="648"/>
                </a:lnTo>
                <a:lnTo>
                  <a:pt x="324" y="675"/>
                </a:lnTo>
                <a:lnTo>
                  <a:pt x="297" y="675"/>
                </a:lnTo>
                <a:close/>
                <a:moveTo>
                  <a:pt x="405" y="648"/>
                </a:moveTo>
                <a:lnTo>
                  <a:pt x="432" y="648"/>
                </a:lnTo>
                <a:lnTo>
                  <a:pt x="432" y="675"/>
                </a:lnTo>
                <a:lnTo>
                  <a:pt x="405" y="675"/>
                </a:lnTo>
                <a:close/>
                <a:moveTo>
                  <a:pt x="486" y="648"/>
                </a:moveTo>
                <a:lnTo>
                  <a:pt x="594" y="648"/>
                </a:lnTo>
                <a:lnTo>
                  <a:pt x="594" y="675"/>
                </a:lnTo>
                <a:lnTo>
                  <a:pt x="486" y="675"/>
                </a:lnTo>
                <a:close/>
                <a:moveTo>
                  <a:pt x="648" y="648"/>
                </a:moveTo>
                <a:lnTo>
                  <a:pt x="702" y="648"/>
                </a:lnTo>
                <a:lnTo>
                  <a:pt x="702" y="675"/>
                </a:lnTo>
                <a:lnTo>
                  <a:pt x="648" y="675"/>
                </a:lnTo>
                <a:close/>
                <a:moveTo>
                  <a:pt x="729" y="648"/>
                </a:moveTo>
                <a:lnTo>
                  <a:pt x="756" y="648"/>
                </a:lnTo>
                <a:lnTo>
                  <a:pt x="756" y="675"/>
                </a:lnTo>
                <a:lnTo>
                  <a:pt x="729" y="675"/>
                </a:lnTo>
                <a:close/>
                <a:moveTo>
                  <a:pt x="783" y="648"/>
                </a:moveTo>
                <a:lnTo>
                  <a:pt x="864" y="648"/>
                </a:lnTo>
                <a:lnTo>
                  <a:pt x="864" y="675"/>
                </a:lnTo>
                <a:lnTo>
                  <a:pt x="783" y="675"/>
                </a:lnTo>
                <a:close/>
                <a:moveTo>
                  <a:pt x="918" y="648"/>
                </a:moveTo>
                <a:lnTo>
                  <a:pt x="972" y="648"/>
                </a:lnTo>
                <a:lnTo>
                  <a:pt x="972" y="675"/>
                </a:lnTo>
                <a:lnTo>
                  <a:pt x="918" y="675"/>
                </a:lnTo>
                <a:close/>
                <a:moveTo>
                  <a:pt x="0" y="675"/>
                </a:moveTo>
                <a:lnTo>
                  <a:pt x="81" y="675"/>
                </a:lnTo>
                <a:lnTo>
                  <a:pt x="81" y="702"/>
                </a:lnTo>
                <a:lnTo>
                  <a:pt x="0" y="702"/>
                </a:lnTo>
                <a:close/>
                <a:moveTo>
                  <a:pt x="108" y="675"/>
                </a:moveTo>
                <a:lnTo>
                  <a:pt x="135" y="675"/>
                </a:lnTo>
                <a:lnTo>
                  <a:pt x="135" y="702"/>
                </a:lnTo>
                <a:lnTo>
                  <a:pt x="108" y="702"/>
                </a:lnTo>
                <a:close/>
                <a:moveTo>
                  <a:pt x="189" y="675"/>
                </a:moveTo>
                <a:lnTo>
                  <a:pt x="216" y="675"/>
                </a:lnTo>
                <a:lnTo>
                  <a:pt x="216" y="702"/>
                </a:lnTo>
                <a:lnTo>
                  <a:pt x="189" y="702"/>
                </a:lnTo>
                <a:close/>
                <a:moveTo>
                  <a:pt x="243" y="675"/>
                </a:moveTo>
                <a:lnTo>
                  <a:pt x="270" y="675"/>
                </a:lnTo>
                <a:lnTo>
                  <a:pt x="270" y="702"/>
                </a:lnTo>
                <a:lnTo>
                  <a:pt x="243" y="702"/>
                </a:lnTo>
                <a:close/>
                <a:moveTo>
                  <a:pt x="324" y="675"/>
                </a:moveTo>
                <a:lnTo>
                  <a:pt x="405" y="675"/>
                </a:lnTo>
                <a:lnTo>
                  <a:pt x="405" y="702"/>
                </a:lnTo>
                <a:lnTo>
                  <a:pt x="324" y="702"/>
                </a:lnTo>
                <a:close/>
                <a:moveTo>
                  <a:pt x="432" y="675"/>
                </a:moveTo>
                <a:lnTo>
                  <a:pt x="486" y="675"/>
                </a:lnTo>
                <a:lnTo>
                  <a:pt x="486" y="702"/>
                </a:lnTo>
                <a:lnTo>
                  <a:pt x="432" y="702"/>
                </a:lnTo>
                <a:close/>
                <a:moveTo>
                  <a:pt x="540" y="675"/>
                </a:moveTo>
                <a:lnTo>
                  <a:pt x="567" y="675"/>
                </a:lnTo>
                <a:lnTo>
                  <a:pt x="567" y="702"/>
                </a:lnTo>
                <a:lnTo>
                  <a:pt x="540" y="702"/>
                </a:lnTo>
                <a:close/>
                <a:moveTo>
                  <a:pt x="621" y="675"/>
                </a:moveTo>
                <a:lnTo>
                  <a:pt x="648" y="675"/>
                </a:lnTo>
                <a:lnTo>
                  <a:pt x="648" y="702"/>
                </a:lnTo>
                <a:lnTo>
                  <a:pt x="621" y="702"/>
                </a:lnTo>
                <a:close/>
                <a:moveTo>
                  <a:pt x="675" y="675"/>
                </a:moveTo>
                <a:lnTo>
                  <a:pt x="729" y="675"/>
                </a:lnTo>
                <a:lnTo>
                  <a:pt x="729" y="702"/>
                </a:lnTo>
                <a:lnTo>
                  <a:pt x="675" y="702"/>
                </a:lnTo>
                <a:close/>
                <a:moveTo>
                  <a:pt x="864" y="675"/>
                </a:moveTo>
                <a:lnTo>
                  <a:pt x="891" y="675"/>
                </a:lnTo>
                <a:lnTo>
                  <a:pt x="891" y="702"/>
                </a:lnTo>
                <a:lnTo>
                  <a:pt x="864" y="702"/>
                </a:lnTo>
                <a:close/>
                <a:moveTo>
                  <a:pt x="918" y="675"/>
                </a:moveTo>
                <a:lnTo>
                  <a:pt x="945" y="675"/>
                </a:lnTo>
                <a:lnTo>
                  <a:pt x="945" y="702"/>
                </a:lnTo>
                <a:lnTo>
                  <a:pt x="918" y="702"/>
                </a:lnTo>
                <a:close/>
                <a:moveTo>
                  <a:pt x="54" y="702"/>
                </a:moveTo>
                <a:lnTo>
                  <a:pt x="81" y="702"/>
                </a:lnTo>
                <a:lnTo>
                  <a:pt x="81" y="729"/>
                </a:lnTo>
                <a:lnTo>
                  <a:pt x="54" y="729"/>
                </a:lnTo>
                <a:close/>
                <a:moveTo>
                  <a:pt x="162" y="702"/>
                </a:moveTo>
                <a:lnTo>
                  <a:pt x="189" y="702"/>
                </a:lnTo>
                <a:lnTo>
                  <a:pt x="189" y="729"/>
                </a:lnTo>
                <a:lnTo>
                  <a:pt x="162" y="729"/>
                </a:lnTo>
                <a:close/>
                <a:moveTo>
                  <a:pt x="216" y="702"/>
                </a:moveTo>
                <a:lnTo>
                  <a:pt x="270" y="702"/>
                </a:lnTo>
                <a:lnTo>
                  <a:pt x="270" y="729"/>
                </a:lnTo>
                <a:lnTo>
                  <a:pt x="216" y="729"/>
                </a:lnTo>
                <a:close/>
                <a:moveTo>
                  <a:pt x="486" y="702"/>
                </a:moveTo>
                <a:lnTo>
                  <a:pt x="540" y="702"/>
                </a:lnTo>
                <a:lnTo>
                  <a:pt x="540" y="729"/>
                </a:lnTo>
                <a:lnTo>
                  <a:pt x="486" y="729"/>
                </a:lnTo>
                <a:close/>
                <a:moveTo>
                  <a:pt x="594" y="702"/>
                </a:moveTo>
                <a:lnTo>
                  <a:pt x="648" y="702"/>
                </a:lnTo>
                <a:lnTo>
                  <a:pt x="648" y="729"/>
                </a:lnTo>
                <a:lnTo>
                  <a:pt x="594" y="729"/>
                </a:lnTo>
                <a:close/>
                <a:moveTo>
                  <a:pt x="675" y="702"/>
                </a:moveTo>
                <a:lnTo>
                  <a:pt x="756" y="702"/>
                </a:lnTo>
                <a:lnTo>
                  <a:pt x="756" y="729"/>
                </a:lnTo>
                <a:lnTo>
                  <a:pt x="675" y="729"/>
                </a:lnTo>
                <a:close/>
                <a:moveTo>
                  <a:pt x="783" y="702"/>
                </a:moveTo>
                <a:lnTo>
                  <a:pt x="810" y="702"/>
                </a:lnTo>
                <a:lnTo>
                  <a:pt x="810" y="729"/>
                </a:lnTo>
                <a:lnTo>
                  <a:pt x="783" y="729"/>
                </a:lnTo>
                <a:close/>
                <a:moveTo>
                  <a:pt x="918" y="702"/>
                </a:moveTo>
                <a:lnTo>
                  <a:pt x="945" y="702"/>
                </a:lnTo>
                <a:lnTo>
                  <a:pt x="945" y="729"/>
                </a:lnTo>
                <a:lnTo>
                  <a:pt x="918" y="729"/>
                </a:lnTo>
                <a:close/>
                <a:moveTo>
                  <a:pt x="108" y="729"/>
                </a:moveTo>
                <a:lnTo>
                  <a:pt x="162" y="729"/>
                </a:lnTo>
                <a:lnTo>
                  <a:pt x="162" y="756"/>
                </a:lnTo>
                <a:lnTo>
                  <a:pt x="108" y="756"/>
                </a:lnTo>
                <a:close/>
                <a:moveTo>
                  <a:pt x="189" y="729"/>
                </a:moveTo>
                <a:lnTo>
                  <a:pt x="216" y="729"/>
                </a:lnTo>
                <a:lnTo>
                  <a:pt x="216" y="756"/>
                </a:lnTo>
                <a:lnTo>
                  <a:pt x="189" y="756"/>
                </a:lnTo>
                <a:close/>
                <a:moveTo>
                  <a:pt x="243" y="729"/>
                </a:moveTo>
                <a:lnTo>
                  <a:pt x="270" y="729"/>
                </a:lnTo>
                <a:lnTo>
                  <a:pt x="270" y="756"/>
                </a:lnTo>
                <a:lnTo>
                  <a:pt x="243" y="756"/>
                </a:lnTo>
                <a:close/>
                <a:moveTo>
                  <a:pt x="351" y="729"/>
                </a:moveTo>
                <a:lnTo>
                  <a:pt x="405" y="729"/>
                </a:lnTo>
                <a:lnTo>
                  <a:pt x="405" y="756"/>
                </a:lnTo>
                <a:lnTo>
                  <a:pt x="351" y="756"/>
                </a:lnTo>
                <a:close/>
                <a:moveTo>
                  <a:pt x="459" y="729"/>
                </a:moveTo>
                <a:lnTo>
                  <a:pt x="513" y="729"/>
                </a:lnTo>
                <a:lnTo>
                  <a:pt x="513" y="756"/>
                </a:lnTo>
                <a:lnTo>
                  <a:pt x="459" y="756"/>
                </a:lnTo>
                <a:close/>
                <a:moveTo>
                  <a:pt x="567" y="729"/>
                </a:moveTo>
                <a:lnTo>
                  <a:pt x="594" y="729"/>
                </a:lnTo>
                <a:lnTo>
                  <a:pt x="594" y="756"/>
                </a:lnTo>
                <a:lnTo>
                  <a:pt x="567" y="756"/>
                </a:lnTo>
                <a:close/>
                <a:moveTo>
                  <a:pt x="702" y="729"/>
                </a:moveTo>
                <a:lnTo>
                  <a:pt x="756" y="729"/>
                </a:lnTo>
                <a:lnTo>
                  <a:pt x="756" y="756"/>
                </a:lnTo>
                <a:lnTo>
                  <a:pt x="702" y="756"/>
                </a:lnTo>
                <a:close/>
                <a:moveTo>
                  <a:pt x="810" y="729"/>
                </a:moveTo>
                <a:lnTo>
                  <a:pt x="864" y="729"/>
                </a:lnTo>
                <a:lnTo>
                  <a:pt x="864" y="756"/>
                </a:lnTo>
                <a:lnTo>
                  <a:pt x="810" y="756"/>
                </a:lnTo>
                <a:close/>
                <a:moveTo>
                  <a:pt x="918" y="729"/>
                </a:moveTo>
                <a:lnTo>
                  <a:pt x="1000" y="729"/>
                </a:lnTo>
                <a:lnTo>
                  <a:pt x="1000" y="756"/>
                </a:lnTo>
                <a:lnTo>
                  <a:pt x="918" y="756"/>
                </a:lnTo>
                <a:close/>
                <a:moveTo>
                  <a:pt x="0" y="756"/>
                </a:moveTo>
                <a:lnTo>
                  <a:pt x="81" y="756"/>
                </a:lnTo>
                <a:lnTo>
                  <a:pt x="81" y="783"/>
                </a:lnTo>
                <a:lnTo>
                  <a:pt x="0" y="783"/>
                </a:lnTo>
                <a:close/>
                <a:moveTo>
                  <a:pt x="108" y="756"/>
                </a:moveTo>
                <a:lnTo>
                  <a:pt x="189" y="756"/>
                </a:lnTo>
                <a:lnTo>
                  <a:pt x="189" y="783"/>
                </a:lnTo>
                <a:lnTo>
                  <a:pt x="108" y="783"/>
                </a:lnTo>
                <a:close/>
                <a:moveTo>
                  <a:pt x="243" y="756"/>
                </a:moveTo>
                <a:lnTo>
                  <a:pt x="297" y="756"/>
                </a:lnTo>
                <a:lnTo>
                  <a:pt x="297" y="783"/>
                </a:lnTo>
                <a:lnTo>
                  <a:pt x="243" y="783"/>
                </a:lnTo>
                <a:close/>
                <a:moveTo>
                  <a:pt x="324" y="756"/>
                </a:moveTo>
                <a:lnTo>
                  <a:pt x="378" y="756"/>
                </a:lnTo>
                <a:lnTo>
                  <a:pt x="378" y="783"/>
                </a:lnTo>
                <a:lnTo>
                  <a:pt x="324" y="783"/>
                </a:lnTo>
                <a:close/>
                <a:moveTo>
                  <a:pt x="486" y="756"/>
                </a:moveTo>
                <a:lnTo>
                  <a:pt x="513" y="756"/>
                </a:lnTo>
                <a:lnTo>
                  <a:pt x="513" y="783"/>
                </a:lnTo>
                <a:lnTo>
                  <a:pt x="486" y="783"/>
                </a:lnTo>
                <a:close/>
                <a:moveTo>
                  <a:pt x="540" y="756"/>
                </a:moveTo>
                <a:lnTo>
                  <a:pt x="621" y="756"/>
                </a:lnTo>
                <a:lnTo>
                  <a:pt x="621" y="783"/>
                </a:lnTo>
                <a:lnTo>
                  <a:pt x="540" y="783"/>
                </a:lnTo>
                <a:close/>
                <a:moveTo>
                  <a:pt x="756" y="756"/>
                </a:moveTo>
                <a:lnTo>
                  <a:pt x="891" y="756"/>
                </a:lnTo>
                <a:lnTo>
                  <a:pt x="891" y="783"/>
                </a:lnTo>
                <a:lnTo>
                  <a:pt x="756" y="783"/>
                </a:lnTo>
                <a:close/>
                <a:moveTo>
                  <a:pt x="918" y="756"/>
                </a:moveTo>
                <a:lnTo>
                  <a:pt x="972" y="756"/>
                </a:lnTo>
                <a:lnTo>
                  <a:pt x="972" y="783"/>
                </a:lnTo>
                <a:lnTo>
                  <a:pt x="918" y="783"/>
                </a:lnTo>
                <a:close/>
                <a:moveTo>
                  <a:pt x="216" y="783"/>
                </a:moveTo>
                <a:lnTo>
                  <a:pt x="297" y="783"/>
                </a:lnTo>
                <a:lnTo>
                  <a:pt x="297" y="810"/>
                </a:lnTo>
                <a:lnTo>
                  <a:pt x="216" y="810"/>
                </a:lnTo>
                <a:close/>
                <a:moveTo>
                  <a:pt x="324" y="783"/>
                </a:moveTo>
                <a:lnTo>
                  <a:pt x="378" y="783"/>
                </a:lnTo>
                <a:lnTo>
                  <a:pt x="378" y="810"/>
                </a:lnTo>
                <a:lnTo>
                  <a:pt x="324" y="810"/>
                </a:lnTo>
                <a:close/>
                <a:moveTo>
                  <a:pt x="432" y="783"/>
                </a:moveTo>
                <a:lnTo>
                  <a:pt x="540" y="783"/>
                </a:lnTo>
                <a:lnTo>
                  <a:pt x="540" y="810"/>
                </a:lnTo>
                <a:lnTo>
                  <a:pt x="432" y="810"/>
                </a:lnTo>
                <a:close/>
                <a:moveTo>
                  <a:pt x="621" y="783"/>
                </a:moveTo>
                <a:lnTo>
                  <a:pt x="648" y="783"/>
                </a:lnTo>
                <a:lnTo>
                  <a:pt x="648" y="810"/>
                </a:lnTo>
                <a:lnTo>
                  <a:pt x="621" y="810"/>
                </a:lnTo>
                <a:close/>
                <a:moveTo>
                  <a:pt x="675" y="783"/>
                </a:moveTo>
                <a:lnTo>
                  <a:pt x="702" y="783"/>
                </a:lnTo>
                <a:lnTo>
                  <a:pt x="702" y="810"/>
                </a:lnTo>
                <a:lnTo>
                  <a:pt x="675" y="810"/>
                </a:lnTo>
                <a:close/>
                <a:moveTo>
                  <a:pt x="756" y="783"/>
                </a:moveTo>
                <a:lnTo>
                  <a:pt x="783" y="783"/>
                </a:lnTo>
                <a:lnTo>
                  <a:pt x="783" y="810"/>
                </a:lnTo>
                <a:lnTo>
                  <a:pt x="756" y="810"/>
                </a:lnTo>
                <a:close/>
                <a:moveTo>
                  <a:pt x="864" y="783"/>
                </a:moveTo>
                <a:lnTo>
                  <a:pt x="918" y="783"/>
                </a:lnTo>
                <a:lnTo>
                  <a:pt x="918" y="810"/>
                </a:lnTo>
                <a:lnTo>
                  <a:pt x="864" y="810"/>
                </a:lnTo>
                <a:close/>
                <a:moveTo>
                  <a:pt x="0" y="810"/>
                </a:moveTo>
                <a:lnTo>
                  <a:pt x="189" y="810"/>
                </a:lnTo>
                <a:lnTo>
                  <a:pt x="189" y="837"/>
                </a:lnTo>
                <a:lnTo>
                  <a:pt x="0" y="837"/>
                </a:lnTo>
                <a:close/>
                <a:moveTo>
                  <a:pt x="378" y="810"/>
                </a:moveTo>
                <a:lnTo>
                  <a:pt x="405" y="810"/>
                </a:lnTo>
                <a:lnTo>
                  <a:pt x="405" y="837"/>
                </a:lnTo>
                <a:lnTo>
                  <a:pt x="378" y="837"/>
                </a:lnTo>
                <a:close/>
                <a:moveTo>
                  <a:pt x="459" y="810"/>
                </a:moveTo>
                <a:lnTo>
                  <a:pt x="513" y="810"/>
                </a:lnTo>
                <a:lnTo>
                  <a:pt x="513" y="837"/>
                </a:lnTo>
                <a:lnTo>
                  <a:pt x="459" y="837"/>
                </a:lnTo>
                <a:close/>
                <a:moveTo>
                  <a:pt x="540" y="810"/>
                </a:moveTo>
                <a:lnTo>
                  <a:pt x="729" y="810"/>
                </a:lnTo>
                <a:lnTo>
                  <a:pt x="729" y="837"/>
                </a:lnTo>
                <a:lnTo>
                  <a:pt x="540" y="837"/>
                </a:lnTo>
                <a:close/>
                <a:moveTo>
                  <a:pt x="756" y="810"/>
                </a:moveTo>
                <a:lnTo>
                  <a:pt x="783" y="810"/>
                </a:lnTo>
                <a:lnTo>
                  <a:pt x="783" y="837"/>
                </a:lnTo>
                <a:lnTo>
                  <a:pt x="756" y="837"/>
                </a:lnTo>
                <a:close/>
                <a:moveTo>
                  <a:pt x="810" y="810"/>
                </a:moveTo>
                <a:lnTo>
                  <a:pt x="837" y="810"/>
                </a:lnTo>
                <a:lnTo>
                  <a:pt x="837" y="837"/>
                </a:lnTo>
                <a:lnTo>
                  <a:pt x="810" y="837"/>
                </a:lnTo>
                <a:close/>
                <a:moveTo>
                  <a:pt x="864" y="810"/>
                </a:moveTo>
                <a:lnTo>
                  <a:pt x="945" y="810"/>
                </a:lnTo>
                <a:lnTo>
                  <a:pt x="945" y="837"/>
                </a:lnTo>
                <a:lnTo>
                  <a:pt x="864" y="837"/>
                </a:lnTo>
                <a:close/>
                <a:moveTo>
                  <a:pt x="0" y="837"/>
                </a:moveTo>
                <a:lnTo>
                  <a:pt x="27" y="837"/>
                </a:lnTo>
                <a:lnTo>
                  <a:pt x="27" y="864"/>
                </a:lnTo>
                <a:lnTo>
                  <a:pt x="0" y="864"/>
                </a:lnTo>
                <a:close/>
                <a:moveTo>
                  <a:pt x="162" y="837"/>
                </a:moveTo>
                <a:lnTo>
                  <a:pt x="189" y="837"/>
                </a:lnTo>
                <a:lnTo>
                  <a:pt x="189" y="864"/>
                </a:lnTo>
                <a:lnTo>
                  <a:pt x="162" y="864"/>
                </a:lnTo>
                <a:close/>
                <a:moveTo>
                  <a:pt x="297" y="837"/>
                </a:moveTo>
                <a:lnTo>
                  <a:pt x="324" y="837"/>
                </a:lnTo>
                <a:lnTo>
                  <a:pt x="324" y="864"/>
                </a:lnTo>
                <a:lnTo>
                  <a:pt x="297" y="864"/>
                </a:lnTo>
                <a:close/>
                <a:moveTo>
                  <a:pt x="351" y="837"/>
                </a:moveTo>
                <a:lnTo>
                  <a:pt x="459" y="837"/>
                </a:lnTo>
                <a:lnTo>
                  <a:pt x="459" y="864"/>
                </a:lnTo>
                <a:lnTo>
                  <a:pt x="351" y="864"/>
                </a:lnTo>
                <a:close/>
                <a:moveTo>
                  <a:pt x="567" y="837"/>
                </a:moveTo>
                <a:lnTo>
                  <a:pt x="594" y="837"/>
                </a:lnTo>
                <a:lnTo>
                  <a:pt x="594" y="864"/>
                </a:lnTo>
                <a:lnTo>
                  <a:pt x="567" y="864"/>
                </a:lnTo>
                <a:close/>
                <a:moveTo>
                  <a:pt x="648" y="837"/>
                </a:moveTo>
                <a:lnTo>
                  <a:pt x="675" y="837"/>
                </a:lnTo>
                <a:lnTo>
                  <a:pt x="675" y="864"/>
                </a:lnTo>
                <a:lnTo>
                  <a:pt x="648" y="864"/>
                </a:lnTo>
                <a:close/>
                <a:moveTo>
                  <a:pt x="702" y="837"/>
                </a:moveTo>
                <a:lnTo>
                  <a:pt x="729" y="837"/>
                </a:lnTo>
                <a:lnTo>
                  <a:pt x="729" y="864"/>
                </a:lnTo>
                <a:lnTo>
                  <a:pt x="702" y="864"/>
                </a:lnTo>
                <a:close/>
                <a:moveTo>
                  <a:pt x="756" y="837"/>
                </a:moveTo>
                <a:lnTo>
                  <a:pt x="783" y="837"/>
                </a:lnTo>
                <a:lnTo>
                  <a:pt x="783" y="864"/>
                </a:lnTo>
                <a:lnTo>
                  <a:pt x="756" y="864"/>
                </a:lnTo>
                <a:close/>
                <a:moveTo>
                  <a:pt x="864" y="837"/>
                </a:moveTo>
                <a:lnTo>
                  <a:pt x="891" y="837"/>
                </a:lnTo>
                <a:lnTo>
                  <a:pt x="891" y="864"/>
                </a:lnTo>
                <a:lnTo>
                  <a:pt x="864" y="864"/>
                </a:lnTo>
                <a:close/>
                <a:moveTo>
                  <a:pt x="918" y="837"/>
                </a:moveTo>
                <a:lnTo>
                  <a:pt x="972" y="837"/>
                </a:lnTo>
                <a:lnTo>
                  <a:pt x="972" y="864"/>
                </a:lnTo>
                <a:lnTo>
                  <a:pt x="918" y="864"/>
                </a:lnTo>
                <a:close/>
                <a:moveTo>
                  <a:pt x="0" y="864"/>
                </a:moveTo>
                <a:lnTo>
                  <a:pt x="27" y="864"/>
                </a:lnTo>
                <a:lnTo>
                  <a:pt x="27" y="891"/>
                </a:lnTo>
                <a:lnTo>
                  <a:pt x="0" y="891"/>
                </a:lnTo>
                <a:close/>
                <a:moveTo>
                  <a:pt x="54" y="864"/>
                </a:moveTo>
                <a:lnTo>
                  <a:pt x="135" y="864"/>
                </a:lnTo>
                <a:lnTo>
                  <a:pt x="135" y="891"/>
                </a:lnTo>
                <a:lnTo>
                  <a:pt x="54" y="891"/>
                </a:lnTo>
                <a:close/>
                <a:moveTo>
                  <a:pt x="162" y="864"/>
                </a:moveTo>
                <a:lnTo>
                  <a:pt x="189" y="864"/>
                </a:lnTo>
                <a:lnTo>
                  <a:pt x="189" y="891"/>
                </a:lnTo>
                <a:lnTo>
                  <a:pt x="162" y="891"/>
                </a:lnTo>
                <a:close/>
                <a:moveTo>
                  <a:pt x="216" y="864"/>
                </a:moveTo>
                <a:lnTo>
                  <a:pt x="270" y="864"/>
                </a:lnTo>
                <a:lnTo>
                  <a:pt x="270" y="891"/>
                </a:lnTo>
                <a:lnTo>
                  <a:pt x="216" y="891"/>
                </a:lnTo>
                <a:close/>
                <a:moveTo>
                  <a:pt x="324" y="864"/>
                </a:moveTo>
                <a:lnTo>
                  <a:pt x="405" y="864"/>
                </a:lnTo>
                <a:lnTo>
                  <a:pt x="405" y="891"/>
                </a:lnTo>
                <a:lnTo>
                  <a:pt x="324" y="891"/>
                </a:lnTo>
                <a:close/>
                <a:moveTo>
                  <a:pt x="432" y="864"/>
                </a:moveTo>
                <a:lnTo>
                  <a:pt x="459" y="864"/>
                </a:lnTo>
                <a:lnTo>
                  <a:pt x="459" y="891"/>
                </a:lnTo>
                <a:lnTo>
                  <a:pt x="432" y="891"/>
                </a:lnTo>
                <a:close/>
                <a:moveTo>
                  <a:pt x="486" y="864"/>
                </a:moveTo>
                <a:lnTo>
                  <a:pt x="567" y="864"/>
                </a:lnTo>
                <a:lnTo>
                  <a:pt x="567" y="891"/>
                </a:lnTo>
                <a:lnTo>
                  <a:pt x="486" y="891"/>
                </a:lnTo>
                <a:close/>
                <a:moveTo>
                  <a:pt x="756" y="864"/>
                </a:moveTo>
                <a:lnTo>
                  <a:pt x="945" y="864"/>
                </a:lnTo>
                <a:lnTo>
                  <a:pt x="945" y="891"/>
                </a:lnTo>
                <a:lnTo>
                  <a:pt x="756" y="891"/>
                </a:lnTo>
                <a:close/>
                <a:moveTo>
                  <a:pt x="0" y="891"/>
                </a:moveTo>
                <a:lnTo>
                  <a:pt x="27" y="891"/>
                </a:lnTo>
                <a:lnTo>
                  <a:pt x="27" y="918"/>
                </a:lnTo>
                <a:lnTo>
                  <a:pt x="0" y="918"/>
                </a:lnTo>
                <a:close/>
                <a:moveTo>
                  <a:pt x="54" y="891"/>
                </a:moveTo>
                <a:lnTo>
                  <a:pt x="135" y="891"/>
                </a:lnTo>
                <a:lnTo>
                  <a:pt x="135" y="918"/>
                </a:lnTo>
                <a:lnTo>
                  <a:pt x="54" y="918"/>
                </a:lnTo>
                <a:close/>
                <a:moveTo>
                  <a:pt x="162" y="891"/>
                </a:moveTo>
                <a:lnTo>
                  <a:pt x="189" y="891"/>
                </a:lnTo>
                <a:lnTo>
                  <a:pt x="189" y="918"/>
                </a:lnTo>
                <a:lnTo>
                  <a:pt x="162" y="918"/>
                </a:lnTo>
                <a:close/>
                <a:moveTo>
                  <a:pt x="297" y="891"/>
                </a:moveTo>
                <a:lnTo>
                  <a:pt x="351" y="891"/>
                </a:lnTo>
                <a:lnTo>
                  <a:pt x="351" y="918"/>
                </a:lnTo>
                <a:lnTo>
                  <a:pt x="297" y="918"/>
                </a:lnTo>
                <a:close/>
                <a:moveTo>
                  <a:pt x="432" y="891"/>
                </a:moveTo>
                <a:lnTo>
                  <a:pt x="540" y="891"/>
                </a:lnTo>
                <a:lnTo>
                  <a:pt x="540" y="918"/>
                </a:lnTo>
                <a:lnTo>
                  <a:pt x="432" y="918"/>
                </a:lnTo>
                <a:close/>
                <a:moveTo>
                  <a:pt x="594" y="891"/>
                </a:moveTo>
                <a:lnTo>
                  <a:pt x="621" y="891"/>
                </a:lnTo>
                <a:lnTo>
                  <a:pt x="621" y="918"/>
                </a:lnTo>
                <a:lnTo>
                  <a:pt x="594" y="918"/>
                </a:lnTo>
                <a:close/>
                <a:moveTo>
                  <a:pt x="648" y="891"/>
                </a:moveTo>
                <a:lnTo>
                  <a:pt x="702" y="891"/>
                </a:lnTo>
                <a:lnTo>
                  <a:pt x="702" y="918"/>
                </a:lnTo>
                <a:lnTo>
                  <a:pt x="648" y="918"/>
                </a:lnTo>
                <a:close/>
                <a:moveTo>
                  <a:pt x="729" y="891"/>
                </a:moveTo>
                <a:lnTo>
                  <a:pt x="756" y="891"/>
                </a:lnTo>
                <a:lnTo>
                  <a:pt x="756" y="918"/>
                </a:lnTo>
                <a:lnTo>
                  <a:pt x="729" y="918"/>
                </a:lnTo>
                <a:close/>
                <a:moveTo>
                  <a:pt x="810" y="891"/>
                </a:moveTo>
                <a:lnTo>
                  <a:pt x="864" y="891"/>
                </a:lnTo>
                <a:lnTo>
                  <a:pt x="864" y="918"/>
                </a:lnTo>
                <a:lnTo>
                  <a:pt x="810" y="918"/>
                </a:lnTo>
                <a:close/>
                <a:moveTo>
                  <a:pt x="891" y="891"/>
                </a:moveTo>
                <a:lnTo>
                  <a:pt x="918" y="891"/>
                </a:lnTo>
                <a:lnTo>
                  <a:pt x="918" y="918"/>
                </a:lnTo>
                <a:lnTo>
                  <a:pt x="891" y="918"/>
                </a:lnTo>
                <a:close/>
                <a:moveTo>
                  <a:pt x="945" y="891"/>
                </a:moveTo>
                <a:lnTo>
                  <a:pt x="972" y="891"/>
                </a:lnTo>
                <a:lnTo>
                  <a:pt x="972" y="918"/>
                </a:lnTo>
                <a:lnTo>
                  <a:pt x="945" y="918"/>
                </a:lnTo>
                <a:close/>
                <a:moveTo>
                  <a:pt x="0" y="918"/>
                </a:moveTo>
                <a:lnTo>
                  <a:pt x="27" y="918"/>
                </a:lnTo>
                <a:lnTo>
                  <a:pt x="27" y="945"/>
                </a:lnTo>
                <a:lnTo>
                  <a:pt x="0" y="945"/>
                </a:lnTo>
                <a:close/>
                <a:moveTo>
                  <a:pt x="54" y="918"/>
                </a:moveTo>
                <a:lnTo>
                  <a:pt x="135" y="918"/>
                </a:lnTo>
                <a:lnTo>
                  <a:pt x="135" y="945"/>
                </a:lnTo>
                <a:lnTo>
                  <a:pt x="54" y="945"/>
                </a:lnTo>
                <a:close/>
                <a:moveTo>
                  <a:pt x="162" y="918"/>
                </a:moveTo>
                <a:lnTo>
                  <a:pt x="189" y="918"/>
                </a:lnTo>
                <a:lnTo>
                  <a:pt x="189" y="945"/>
                </a:lnTo>
                <a:lnTo>
                  <a:pt x="162" y="945"/>
                </a:lnTo>
                <a:close/>
                <a:moveTo>
                  <a:pt x="270" y="918"/>
                </a:moveTo>
                <a:lnTo>
                  <a:pt x="297" y="918"/>
                </a:lnTo>
                <a:lnTo>
                  <a:pt x="297" y="945"/>
                </a:lnTo>
                <a:lnTo>
                  <a:pt x="270" y="945"/>
                </a:lnTo>
                <a:close/>
                <a:moveTo>
                  <a:pt x="324" y="918"/>
                </a:moveTo>
                <a:lnTo>
                  <a:pt x="540" y="918"/>
                </a:lnTo>
                <a:lnTo>
                  <a:pt x="540" y="945"/>
                </a:lnTo>
                <a:lnTo>
                  <a:pt x="324" y="945"/>
                </a:lnTo>
                <a:close/>
                <a:moveTo>
                  <a:pt x="567" y="918"/>
                </a:moveTo>
                <a:lnTo>
                  <a:pt x="675" y="918"/>
                </a:lnTo>
                <a:lnTo>
                  <a:pt x="675" y="945"/>
                </a:lnTo>
                <a:lnTo>
                  <a:pt x="567" y="945"/>
                </a:lnTo>
                <a:close/>
                <a:moveTo>
                  <a:pt x="702" y="918"/>
                </a:moveTo>
                <a:lnTo>
                  <a:pt x="729" y="918"/>
                </a:lnTo>
                <a:lnTo>
                  <a:pt x="729" y="945"/>
                </a:lnTo>
                <a:lnTo>
                  <a:pt x="702" y="945"/>
                </a:lnTo>
                <a:close/>
                <a:moveTo>
                  <a:pt x="756" y="918"/>
                </a:moveTo>
                <a:lnTo>
                  <a:pt x="783" y="918"/>
                </a:lnTo>
                <a:lnTo>
                  <a:pt x="783" y="945"/>
                </a:lnTo>
                <a:lnTo>
                  <a:pt x="756" y="945"/>
                </a:lnTo>
                <a:close/>
                <a:moveTo>
                  <a:pt x="810" y="918"/>
                </a:moveTo>
                <a:lnTo>
                  <a:pt x="837" y="918"/>
                </a:lnTo>
                <a:lnTo>
                  <a:pt x="837" y="945"/>
                </a:lnTo>
                <a:lnTo>
                  <a:pt x="810" y="945"/>
                </a:lnTo>
                <a:close/>
                <a:moveTo>
                  <a:pt x="918" y="918"/>
                </a:moveTo>
                <a:lnTo>
                  <a:pt x="972" y="918"/>
                </a:lnTo>
                <a:lnTo>
                  <a:pt x="972" y="945"/>
                </a:lnTo>
                <a:lnTo>
                  <a:pt x="918" y="945"/>
                </a:lnTo>
                <a:close/>
                <a:moveTo>
                  <a:pt x="0" y="945"/>
                </a:moveTo>
                <a:lnTo>
                  <a:pt x="27" y="945"/>
                </a:lnTo>
                <a:lnTo>
                  <a:pt x="27" y="972"/>
                </a:lnTo>
                <a:lnTo>
                  <a:pt x="0" y="972"/>
                </a:lnTo>
                <a:close/>
                <a:moveTo>
                  <a:pt x="162" y="945"/>
                </a:moveTo>
                <a:lnTo>
                  <a:pt x="189" y="945"/>
                </a:lnTo>
                <a:lnTo>
                  <a:pt x="189" y="972"/>
                </a:lnTo>
                <a:lnTo>
                  <a:pt x="162" y="972"/>
                </a:lnTo>
                <a:close/>
                <a:moveTo>
                  <a:pt x="216" y="945"/>
                </a:moveTo>
                <a:lnTo>
                  <a:pt x="243" y="945"/>
                </a:lnTo>
                <a:lnTo>
                  <a:pt x="243" y="972"/>
                </a:lnTo>
                <a:lnTo>
                  <a:pt x="216" y="972"/>
                </a:lnTo>
                <a:close/>
                <a:moveTo>
                  <a:pt x="405" y="945"/>
                </a:moveTo>
                <a:lnTo>
                  <a:pt x="432" y="945"/>
                </a:lnTo>
                <a:lnTo>
                  <a:pt x="432" y="972"/>
                </a:lnTo>
                <a:lnTo>
                  <a:pt x="405" y="972"/>
                </a:lnTo>
                <a:close/>
                <a:moveTo>
                  <a:pt x="459" y="945"/>
                </a:moveTo>
                <a:lnTo>
                  <a:pt x="594" y="945"/>
                </a:lnTo>
                <a:lnTo>
                  <a:pt x="594" y="972"/>
                </a:lnTo>
                <a:lnTo>
                  <a:pt x="459" y="972"/>
                </a:lnTo>
                <a:close/>
                <a:moveTo>
                  <a:pt x="621" y="945"/>
                </a:moveTo>
                <a:lnTo>
                  <a:pt x="648" y="945"/>
                </a:lnTo>
                <a:lnTo>
                  <a:pt x="648" y="972"/>
                </a:lnTo>
                <a:lnTo>
                  <a:pt x="621" y="972"/>
                </a:lnTo>
                <a:close/>
                <a:moveTo>
                  <a:pt x="837" y="945"/>
                </a:moveTo>
                <a:lnTo>
                  <a:pt x="864" y="945"/>
                </a:lnTo>
                <a:lnTo>
                  <a:pt x="864" y="972"/>
                </a:lnTo>
                <a:lnTo>
                  <a:pt x="837" y="972"/>
                </a:lnTo>
                <a:close/>
                <a:moveTo>
                  <a:pt x="918" y="945"/>
                </a:moveTo>
                <a:lnTo>
                  <a:pt x="972" y="945"/>
                </a:lnTo>
                <a:lnTo>
                  <a:pt x="972" y="972"/>
                </a:lnTo>
                <a:lnTo>
                  <a:pt x="918" y="972"/>
                </a:lnTo>
                <a:close/>
                <a:moveTo>
                  <a:pt x="0" y="972"/>
                </a:moveTo>
                <a:lnTo>
                  <a:pt x="189" y="972"/>
                </a:lnTo>
                <a:lnTo>
                  <a:pt x="189" y="1000"/>
                </a:lnTo>
                <a:lnTo>
                  <a:pt x="0" y="1000"/>
                </a:lnTo>
                <a:close/>
                <a:moveTo>
                  <a:pt x="243" y="972"/>
                </a:moveTo>
                <a:lnTo>
                  <a:pt x="324" y="972"/>
                </a:lnTo>
                <a:lnTo>
                  <a:pt x="324" y="1000"/>
                </a:lnTo>
                <a:lnTo>
                  <a:pt x="243" y="1000"/>
                </a:lnTo>
                <a:close/>
                <a:moveTo>
                  <a:pt x="351" y="972"/>
                </a:moveTo>
                <a:lnTo>
                  <a:pt x="378" y="972"/>
                </a:lnTo>
                <a:lnTo>
                  <a:pt x="378" y="1000"/>
                </a:lnTo>
                <a:lnTo>
                  <a:pt x="351" y="1000"/>
                </a:lnTo>
                <a:close/>
                <a:moveTo>
                  <a:pt x="405" y="972"/>
                </a:moveTo>
                <a:lnTo>
                  <a:pt x="432" y="972"/>
                </a:lnTo>
                <a:lnTo>
                  <a:pt x="432" y="1000"/>
                </a:lnTo>
                <a:lnTo>
                  <a:pt x="405" y="1000"/>
                </a:lnTo>
                <a:close/>
                <a:moveTo>
                  <a:pt x="459" y="972"/>
                </a:moveTo>
                <a:lnTo>
                  <a:pt x="513" y="972"/>
                </a:lnTo>
                <a:lnTo>
                  <a:pt x="513" y="1000"/>
                </a:lnTo>
                <a:lnTo>
                  <a:pt x="459" y="1000"/>
                </a:lnTo>
                <a:close/>
                <a:moveTo>
                  <a:pt x="540" y="972"/>
                </a:moveTo>
                <a:lnTo>
                  <a:pt x="621" y="972"/>
                </a:lnTo>
                <a:lnTo>
                  <a:pt x="621" y="1000"/>
                </a:lnTo>
                <a:lnTo>
                  <a:pt x="540" y="1000"/>
                </a:lnTo>
                <a:close/>
                <a:moveTo>
                  <a:pt x="648" y="972"/>
                </a:moveTo>
                <a:lnTo>
                  <a:pt x="675" y="972"/>
                </a:lnTo>
                <a:lnTo>
                  <a:pt x="675" y="1000"/>
                </a:lnTo>
                <a:lnTo>
                  <a:pt x="648" y="1000"/>
                </a:lnTo>
                <a:close/>
                <a:moveTo>
                  <a:pt x="729" y="972"/>
                </a:moveTo>
                <a:lnTo>
                  <a:pt x="756" y="972"/>
                </a:lnTo>
                <a:lnTo>
                  <a:pt x="756" y="1000"/>
                </a:lnTo>
                <a:lnTo>
                  <a:pt x="729" y="1000"/>
                </a:lnTo>
                <a:close/>
                <a:moveTo>
                  <a:pt x="783" y="972"/>
                </a:moveTo>
                <a:lnTo>
                  <a:pt x="837" y="972"/>
                </a:lnTo>
                <a:lnTo>
                  <a:pt x="837" y="1000"/>
                </a:lnTo>
                <a:lnTo>
                  <a:pt x="783" y="1000"/>
                </a:lnTo>
                <a:close/>
                <a:moveTo>
                  <a:pt x="918" y="972"/>
                </a:moveTo>
                <a:lnTo>
                  <a:pt x="1000" y="972"/>
                </a:lnTo>
                <a:lnTo>
                  <a:pt x="1000" y="1000"/>
                </a:lnTo>
                <a:lnTo>
                  <a:pt x="918" y="1000"/>
                </a:lnTo>
                <a:close/>
              </a:path>
            </a:pathLst>
          </a:custGeom>
          <a:solidFill>
            <a:srgbClr val="160F1C"/>
          </a:solidFill>
          <a:ln>
            <a:noFill/>
          </a:ln>
        </p:spPr>
      </p:sp>
      <p:sp>
        <p:nvSpPr>
          <p:cNvPr id="17" name="Scan note"/>
          <p:cNvSpPr txBox="1"/>
          <p:nvPr/>
        </p:nvSpPr>
        <p:spPr>
          <a:xfrm>
            <a:off x="7360920" y="54406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0" i="0" dirty="0">
                <a:solidFill>
                  <a:srgbClr val="B7A9C4"/>
                </a:solidFill>
                <a:latin typeface="Calibri"/>
                <a:ea typeface="Calibri"/>
                <a:cs typeface="Calibri"/>
              </a:rPr>
              <a:t>Point your phone camera at the code.</a:t>
            </a:r>
            <a:endParaRPr lang="en-IN" sz="1700" b="0" i="0" dirty="0">
              <a:solidFill>
                <a:srgbClr val="B7A9C4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>
    <mc:Choice Requires="p159">
      <p:transition spd="slow" p14:dur="1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" dur="13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13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7" grpId="0" animBg="1"/>
    </p:bldLst>
  </p:timing>
</p:sld>
</file>

<file path=ppt/theme/theme1.xml><?xml version="1.0" encoding="utf-8"?>
<a:theme xmlns:a="http://schemas.openxmlformats.org/drawingml/2006/main" name="The Believing Room">
  <a:themeElements>
    <a:clrScheme name="The Believing Room">
      <a:dk1>
        <a:srgbClr val="160F1C"/>
      </a:dk1>
      <a:lt1>
        <a:srgbClr val="F6F1E9"/>
      </a:lt1>
      <a:dk2>
        <a:srgbClr val="1E1626"/>
      </a:dk2>
      <a:lt2>
        <a:srgbClr val="EDE6DA"/>
      </a:lt2>
      <a:accent1>
        <a:srgbClr val="CBAE76"/>
      </a:accent1>
      <a:accent2>
        <a:srgbClr val="B7A9C4"/>
      </a:accent2>
      <a:accent3>
        <a:srgbClr val="D9B7A6"/>
      </a:accent3>
      <a:accent4>
        <a:srgbClr val="9C86B0"/>
      </a:accent4>
      <a:accent5>
        <a:srgbClr val="3F2C4D"/>
      </a:accent5>
      <a:accent6>
        <a:srgbClr val="A98A4F"/>
      </a:accent6>
      <a:hlink>
        <a:srgbClr val="E3CFA8"/>
      </a:hlink>
      <a:folHlink>
        <a:srgbClr val="B7A9C4"/>
      </a:folHlink>
    </a:clrScheme>
    <a:fontScheme name="The Believing Roo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 Believing Room">
  <a:themeElements>
    <a:clrScheme name="The Believing Room">
      <a:dk1>
        <a:srgbClr val="160F1C"/>
      </a:dk1>
      <a:lt1>
        <a:srgbClr val="F6F1E9"/>
      </a:lt1>
      <a:dk2>
        <a:srgbClr val="1E1626"/>
      </a:dk2>
      <a:lt2>
        <a:srgbClr val="EDE6DA"/>
      </a:lt2>
      <a:accent1>
        <a:srgbClr val="CBAE76"/>
      </a:accent1>
      <a:accent2>
        <a:srgbClr val="B7A9C4"/>
      </a:accent2>
      <a:accent3>
        <a:srgbClr val="D9B7A6"/>
      </a:accent3>
      <a:accent4>
        <a:srgbClr val="9C86B0"/>
      </a:accent4>
      <a:accent5>
        <a:srgbClr val="3F2C4D"/>
      </a:accent5>
      <a:accent6>
        <a:srgbClr val="A98A4F"/>
      </a:accent6>
      <a:hlink>
        <a:srgbClr val="E3CFA8"/>
      </a:hlink>
      <a:folHlink>
        <a:srgbClr val="B7A9C4"/>
      </a:folHlink>
    </a:clrScheme>
    <a:fontScheme name="The Believing Roo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The Believing Room: BIT Noida</dc:title>
  <dc:creator>The Believing Room</dc:creator>
</cp:coreProperties>
</file>